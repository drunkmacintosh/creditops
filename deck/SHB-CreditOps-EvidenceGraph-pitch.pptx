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SME tín dụng chậm không phải ở quyết định, mà ở khâu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là preview 60 giây; demo trực tiếp chạy đúng hồ sơ này.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FFFFFF"/>
                </a:solidFill>
                <a:latin typeface="Segoe UI"/>
              </a:rPr>
              <a:t>Một câu hỏi đơn giản. Hàng chục tài liệu. Năm bàn làm việc.</a:t>
            </a:r>
          </a:p>
        </p:txBody>
      </p:sp>
      <p:sp>
        <p:nvSpPr>
          <p:cNvPr id="3" name="quote"/>
          <p:cNvSpPr/>
          <p:nvPr/>
        </p:nvSpPr>
        <p:spPr>
          <a:xfrm>
            <a:off x="640080" y="1828800"/>
            <a:ext cx="4937760" cy="20116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700" b="1" i="1">
                <a:solidFill>
                  <a:srgbClr val="0B2D5B"/>
                </a:solidFill>
                <a:latin typeface="Segoe UI"/>
              </a:rPr>
              <a:t>“Tôi cần 2 tỷ nhập nguyên liệu cho đơn hàng Tết — ngân hàng cần gì để cho tôi vay?”</a:t>
            </a:r>
          </a:p>
        </p:txBody>
      </p:sp>
      <p:sp>
        <p:nvSpPr>
          <p:cNvPr id="4" name="TextBox 3"/>
          <p:cNvSpPr txBox="1"/>
          <p:nvPr/>
        </p:nvSpPr>
        <p:spPr>
          <a:xfrm>
            <a:off x="640080" y="3931920"/>
            <a:ext cx="4937760" cy="457200"/>
          </a:xfrm>
          <a:prstGeom prst="rect">
            <a:avLst/>
          </a:prstGeom>
          <a:noFill/>
        </p:spPr>
        <p:txBody>
          <a:bodyPr wrap="square">
            <a:spAutoFit/>
          </a:bodyPr>
          <a:lstStyle/>
          <a:p>
            <a:pPr algn="l"/>
            <a:r>
              <a:rPr sz="1100" b="0" i="0">
                <a:solidFill>
                  <a:srgbClr val="CADCFC"/>
                </a:solidFill>
                <a:latin typeface="Segoe UI"/>
              </a:rPr>
              <a:t>Giám đốc Công ty TNHH Thực phẩm Minh An (dữ liệu tổng hợp)</a:t>
            </a:r>
          </a:p>
        </p:txBody>
      </p:sp>
      <p:sp>
        <p:nvSpPr>
          <p:cNvPr id="5" name="doc_thumb"/>
          <p:cNvSpPr/>
          <p:nvPr/>
        </p:nvSpPr>
        <p:spPr>
          <a:xfrm>
            <a:off x="6217920" y="155448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ĐKKD</a:t>
            </a:r>
          </a:p>
        </p:txBody>
      </p:sp>
      <p:sp>
        <p:nvSpPr>
          <p:cNvPr id="6" name="doc_thumb"/>
          <p:cNvSpPr/>
          <p:nvPr/>
        </p:nvSpPr>
        <p:spPr>
          <a:xfrm>
            <a:off x="8138160" y="155448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Điều lệ</a:t>
            </a:r>
          </a:p>
        </p:txBody>
      </p:sp>
      <p:sp>
        <p:nvSpPr>
          <p:cNvPr id="7" name="doc_thumb"/>
          <p:cNvSpPr/>
          <p:nvPr/>
        </p:nvSpPr>
        <p:spPr>
          <a:xfrm>
            <a:off x="10058400" y="155448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CCCD người ĐDPL</a:t>
            </a:r>
          </a:p>
        </p:txBody>
      </p:sp>
      <p:sp>
        <p:nvSpPr>
          <p:cNvPr id="8" name="doc_thumb"/>
          <p:cNvSpPr/>
          <p:nvPr/>
        </p:nvSpPr>
        <p:spPr>
          <a:xfrm>
            <a:off x="6217920" y="260604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BCTC 2024</a:t>
            </a:r>
          </a:p>
        </p:txBody>
      </p:sp>
      <p:sp>
        <p:nvSpPr>
          <p:cNvPr id="9" name="doc_thumb"/>
          <p:cNvSpPr/>
          <p:nvPr/>
        </p:nvSpPr>
        <p:spPr>
          <a:xfrm>
            <a:off x="8138160" y="260604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BCTC 2025</a:t>
            </a:r>
          </a:p>
        </p:txBody>
      </p:sp>
      <p:sp>
        <p:nvSpPr>
          <p:cNvPr id="10" name="doc_thumb"/>
          <p:cNvSpPr/>
          <p:nvPr/>
        </p:nvSpPr>
        <p:spPr>
          <a:xfrm>
            <a:off x="10058400" y="260604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Sao kê ngân hàng</a:t>
            </a:r>
          </a:p>
        </p:txBody>
      </p:sp>
      <p:sp>
        <p:nvSpPr>
          <p:cNvPr id="11" name="doc_thumb"/>
          <p:cNvSpPr/>
          <p:nvPr/>
        </p:nvSpPr>
        <p:spPr>
          <a:xfrm>
            <a:off x="6217920" y="365760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Tờ khai VAT</a:t>
            </a:r>
          </a:p>
        </p:txBody>
      </p:sp>
      <p:sp>
        <p:nvSpPr>
          <p:cNvPr id="12" name="doc_thumb"/>
          <p:cNvSpPr/>
          <p:nvPr/>
        </p:nvSpPr>
        <p:spPr>
          <a:xfrm>
            <a:off x="8138160" y="365760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HĐ mua nguyên liệu</a:t>
            </a:r>
          </a:p>
        </p:txBody>
      </p:sp>
      <p:sp>
        <p:nvSpPr>
          <p:cNvPr id="13" name="doc_thumb"/>
          <p:cNvSpPr/>
          <p:nvPr/>
        </p:nvSpPr>
        <p:spPr>
          <a:xfrm>
            <a:off x="10058400" y="365760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HĐ bán hàng</a:t>
            </a:r>
          </a:p>
        </p:txBody>
      </p:sp>
      <p:sp>
        <p:nvSpPr>
          <p:cNvPr id="14" name="doc_thumb"/>
          <p:cNvSpPr/>
          <p:nvPr/>
        </p:nvSpPr>
        <p:spPr>
          <a:xfrm>
            <a:off x="6217920" y="470916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Kế hoạch tồn kho</a:t>
            </a:r>
          </a:p>
        </p:txBody>
      </p:sp>
      <p:sp>
        <p:nvSpPr>
          <p:cNvPr id="15" name="doc_thumb"/>
          <p:cNvSpPr/>
          <p:nvPr/>
        </p:nvSpPr>
        <p:spPr>
          <a:xfrm>
            <a:off x="8138160" y="470916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Hồ sơ TSBĐ</a:t>
            </a:r>
          </a:p>
        </p:txBody>
      </p:sp>
      <p:sp>
        <p:nvSpPr>
          <p:cNvPr id="16" name="doc_thumb"/>
          <p:cNvSpPr/>
          <p:nvPr/>
        </p:nvSpPr>
        <p:spPr>
          <a:xfrm>
            <a:off x="10058400" y="4709160"/>
            <a:ext cx="1783080" cy="914400"/>
          </a:xfrm>
          <a:prstGeom prst="foldedCorner">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Nghị quyết bổ nhiệm</a:t>
            </a:r>
          </a:p>
        </p:txBody>
      </p:sp>
      <p:sp>
        <p:nvSpPr>
          <p:cNvPr id="17" name="footer"/>
          <p:cNvSpPr txBox="1"/>
          <p:nvPr/>
        </p:nvSpPr>
        <p:spPr>
          <a:xfrm>
            <a:off x="457200" y="6355080"/>
            <a:ext cx="11247120" cy="457200"/>
          </a:xfrm>
          <a:prstGeom prst="rect">
            <a:avLst/>
          </a:prstGeom>
          <a:noFill/>
        </p:spPr>
        <p:txBody>
          <a:bodyPr wrap="square">
            <a:spAutoFit/>
          </a:bodyPr>
          <a:lstStyle/>
          <a:p>
            <a:pPr algn="l"/>
            <a:r>
              <a:rPr sz="700" b="0" i="0">
                <a:solidFill>
                  <a:srgbClr val="CADCFC"/>
                </a:solidFill>
                <a:latin typeface="Segoe UI"/>
              </a:rPr>
              <a:t>SHB CreditOps EvidenceGraph  ·  1/18</a:t>
            </a:r>
          </a:p>
          <a:p>
            <a:pPr algn="l"/>
            <a:r>
              <a:rPr sz="700" b="0" i="0">
                <a:solidFill>
                  <a:srgbClr val="CADCFC"/>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Ngân hàng không thiếu dữ liệu. Ngân hàng thiếu bộ máy kiểm chứng dữ liệu.</a:t>
            </a:r>
          </a:p>
        </p:txBody>
      </p:sp>
      <p:sp>
        <p:nvSpPr>
          <p:cNvPr id="3" name="bullets"/>
          <p:cNvSpPr txBox="1"/>
          <p:nvPr/>
        </p:nvSpPr>
        <p:spPr>
          <a:xfrm>
            <a:off x="640080" y="1371600"/>
            <a:ext cx="10881360" cy="4023360"/>
          </a:xfrm>
          <a:prstGeom prst="rect">
            <a:avLst/>
          </a:prstGeom>
          <a:noFill/>
        </p:spPr>
        <p:txBody>
          <a:bodyPr wrap="square">
            <a:spAutoFit/>
          </a:bodyPr>
          <a:lstStyle/>
          <a:p>
            <a:pPr algn="l">
              <a:lnSpc>
                <a:spcPct val="112000"/>
              </a:lnSpc>
              <a:spcAft>
                <a:spcPts val="500"/>
              </a:spcAft>
            </a:pPr>
            <a:r>
              <a:rPr sz="1400" b="0" i="0">
                <a:solidFill>
                  <a:srgbClr val="445063"/>
                </a:solidFill>
                <a:latin typeface="Segoe UI"/>
              </a:rPr>
              <a:t>•  Tài liệu — có. Chính sách — có. Chuyên gia — có.</a:t>
            </a:r>
          </a:p>
          <a:p>
            <a:pPr algn="l">
              <a:lnSpc>
                <a:spcPct val="112000"/>
              </a:lnSpc>
              <a:spcAft>
                <a:spcPts val="500"/>
              </a:spcAft>
            </a:pPr>
            <a:r>
              <a:rPr sz="1400" b="0" i="0">
                <a:solidFill>
                  <a:srgbClr val="445063"/>
                </a:solidFill>
                <a:latin typeface="Segoe UI"/>
              </a:rPr>
              <a:t>•  Kiểm tra đầy đủ hồ sơ: làm thủ công</a:t>
            </a:r>
          </a:p>
          <a:p>
            <a:pPr algn="l">
              <a:lnSpc>
                <a:spcPct val="112000"/>
              </a:lnSpc>
              <a:spcAft>
                <a:spcPts val="500"/>
              </a:spcAft>
            </a:pPr>
            <a:r>
              <a:rPr sz="1400" b="0" i="0">
                <a:solidFill>
                  <a:srgbClr val="445063"/>
                </a:solidFill>
                <a:latin typeface="Segoe UI"/>
              </a:rPr>
              <a:t>•  Mâu thuẫn doanh thu ↔ sao kê: phát hiện muộn</a:t>
            </a:r>
          </a:p>
          <a:p>
            <a:pPr algn="l">
              <a:lnSpc>
                <a:spcPct val="112000"/>
              </a:lnSpc>
              <a:spcAft>
                <a:spcPts val="500"/>
              </a:spcAft>
            </a:pPr>
            <a:r>
              <a:rPr sz="1400" b="0" i="0">
                <a:solidFill>
                  <a:srgbClr val="445063"/>
                </a:solidFill>
                <a:latin typeface="Segoe UI"/>
              </a:rPr>
              <a:t>•  Trích dẫn chính sách: tra cứu bằng tay</a:t>
            </a:r>
          </a:p>
          <a:p>
            <a:pPr algn="l">
              <a:lnSpc>
                <a:spcPct val="112000"/>
              </a:lnSpc>
              <a:spcAft>
                <a:spcPts val="500"/>
              </a:spcAft>
            </a:pPr>
            <a:r>
              <a:rPr sz="1400" b="0" i="0">
                <a:solidFill>
                  <a:srgbClr val="445063"/>
                </a:solidFill>
                <a:latin typeface="Segoe UI"/>
              </a:rPr>
              <a:t>•  Tờ trình: lắp ghép copy-paste</a:t>
            </a:r>
          </a:p>
          <a:p>
            <a:pPr algn="l">
              <a:lnSpc>
                <a:spcPct val="112000"/>
              </a:lnSpc>
              <a:spcAft>
                <a:spcPts val="500"/>
              </a:spcAft>
            </a:pPr>
            <a:r>
              <a:rPr sz="1400" b="0" i="0">
                <a:solidFill>
                  <a:srgbClr val="445063"/>
                </a:solidFill>
                <a:latin typeface="Segoe UI"/>
              </a:rPr>
              <a:t>•  Dấu vết kiểm toán: dựng lại sau cùng</a:t>
            </a:r>
          </a:p>
        </p:txBody>
      </p:sp>
      <p:sp>
        <p:nvSpPr>
          <p:cNvPr id="4"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Khoảng trống không nằm ở thông tin — mà ở việc kiểm chứng và kết nối thông tin.</a:t>
            </a:r>
          </a:p>
        </p:txBody>
      </p:sp>
      <p:sp>
        <p:nvSpPr>
          <p:cNvPr id="5"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2/18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AI ngân hàng đang dừng ở trả lời câu hỏi. Nghiệp vụ cần AI làm việc.</a:t>
            </a:r>
          </a:p>
        </p:txBody>
      </p:sp>
      <p:sp>
        <p:nvSpPr>
          <p:cNvPr id="3" name="stage_box"/>
          <p:cNvSpPr/>
          <p:nvPr/>
        </p:nvSpPr>
        <p:spPr>
          <a:xfrm>
            <a:off x="731520" y="4206240"/>
            <a:ext cx="265176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Chatbot Q&amp;A</a:t>
            </a:r>
          </a:p>
        </p:txBody>
      </p:sp>
      <p:sp>
        <p:nvSpPr>
          <p:cNvPr id="4" name="stage_box"/>
          <p:cNvSpPr/>
          <p:nvPr/>
        </p:nvSpPr>
        <p:spPr>
          <a:xfrm>
            <a:off x="3657600" y="3657600"/>
            <a:ext cx="2651760" cy="14630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RAG trả lời có nguồn</a:t>
            </a:r>
          </a:p>
        </p:txBody>
      </p:sp>
      <p:sp>
        <p:nvSpPr>
          <p:cNvPr id="5" name="stage_box"/>
          <p:cNvSpPr/>
          <p:nvPr/>
        </p:nvSpPr>
        <p:spPr>
          <a:xfrm>
            <a:off x="8778240" y="3108960"/>
            <a:ext cx="2651760" cy="201168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Đội ngũ agent làm việc thật</a:t>
            </a:r>
          </a:p>
        </p:txBody>
      </p:sp>
      <p:sp>
        <p:nvSpPr>
          <p:cNvPr id="6" name="gap_box"/>
          <p:cNvSpPr/>
          <p:nvPr/>
        </p:nvSpPr>
        <p:spPr>
          <a:xfrm>
            <a:off x="6492240" y="3566160"/>
            <a:ext cx="2103120" cy="1097280"/>
          </a:xfrm>
          <a:prstGeom prst="roundRect">
            <a:avLst>
              <a:gd name="adj" fmla="val 10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KHOẢNG CÁCH TIN CẬY</a:t>
            </a:r>
          </a:p>
        </p:txBody>
      </p:sp>
      <p:sp>
        <p:nvSpPr>
          <p:cNvPr id="7" name="bullets"/>
          <p:cNvSpPr txBox="1"/>
          <p:nvPr/>
        </p:nvSpPr>
        <p:spPr>
          <a:xfrm>
            <a:off x="731520" y="1280160"/>
            <a:ext cx="10881360" cy="155448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Chuyên môn tín dụng nằm trong số ít chuyên gia khó nhân rộng</a:t>
            </a:r>
          </a:p>
          <a:p>
            <a:pPr algn="l">
              <a:lnSpc>
                <a:spcPct val="112000"/>
              </a:lnSpc>
              <a:spcAft>
                <a:spcPts val="500"/>
              </a:spcAft>
            </a:pPr>
            <a:r>
              <a:rPr sz="1100" b="0" i="0">
                <a:solidFill>
                  <a:srgbClr val="445063"/>
                </a:solidFill>
                <a:latin typeface="Segoe UI"/>
              </a:rPr>
              <a:t>•  Xu hướng 2026: AI lập kế hoạch, phối hợp, dùng công cụ, hành động</a:t>
            </a:r>
          </a:p>
          <a:p>
            <a:pPr algn="l">
              <a:lnSpc>
                <a:spcPct val="112000"/>
              </a:lnSpc>
              <a:spcAft>
                <a:spcPts val="500"/>
              </a:spcAft>
            </a:pPr>
            <a:r>
              <a:rPr sz="1100" b="0" i="0">
                <a:solidFill>
                  <a:srgbClr val="445063"/>
                </a:solidFill>
                <a:latin typeface="Segoe UI"/>
              </a:rPr>
              <a:t>•  Nhưng tín dụng không thể tin AI thiếu bằng chứng, kiểm toán và phân quyền</a:t>
            </a:r>
          </a:p>
        </p:txBody>
      </p:sp>
      <p:sp>
        <p:nvSpPr>
          <p:cNvPr id="8"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Đúng lúc ngân hàng cần AI làm việc thật, chatbot chỉ có thể nói.</a:t>
            </a:r>
          </a:p>
        </p:txBody>
      </p:sp>
      <p:sp>
        <p:nvSpPr>
          <p:cNvPr id="9"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3/18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SHB CreditOps EvidenceGraph — Phòng tín dụng số đầu tiên cho SHB</a:t>
            </a:r>
          </a:p>
        </p:txBody>
      </p:sp>
      <p:sp>
        <p:nvSpPr>
          <p:cNvPr id="3" name="TextBox 2"/>
          <p:cNvSpPr txBox="1"/>
          <p:nvPr/>
        </p:nvSpPr>
        <p:spPr>
          <a:xfrm>
            <a:off x="457200" y="1325880"/>
            <a:ext cx="11247120" cy="658368"/>
          </a:xfrm>
          <a:prstGeom prst="rect">
            <a:avLst/>
          </a:prstGeom>
          <a:noFill/>
        </p:spPr>
        <p:txBody>
          <a:bodyPr wrap="square">
            <a:spAutoFit/>
          </a:bodyPr>
          <a:lstStyle/>
          <a:p>
            <a:pPr algn="l"/>
            <a:r>
              <a:rPr sz="1700" b="0" i="1">
                <a:solidFill>
                  <a:srgbClr val="445063"/>
                </a:solidFill>
                <a:latin typeface="Segoe UI"/>
              </a:rPr>
              <a:t>Một đội ngũ chuyên gia AI biến chồng tài liệu rời rạc thành hồ sơ tín dụng có bằng chứng — để con người ra quyết định.</a:t>
            </a:r>
          </a:p>
        </p:txBody>
      </p:sp>
      <p:sp>
        <p:nvSpPr>
          <p:cNvPr id="4" name="hub"/>
          <p:cNvSpPr/>
          <p:nvPr/>
        </p:nvSpPr>
        <p:spPr>
          <a:xfrm>
            <a:off x="4023360" y="3017520"/>
            <a:ext cx="2743200" cy="105156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Credit Case Digital Twin</a:t>
            </a:r>
          </a:p>
          <a:p>
            <a:pPr algn="ctr"/>
            <a:r>
              <a:rPr sz="1100" b="1" i="0">
                <a:solidFill>
                  <a:srgbClr val="0B2D5B"/>
                </a:solidFill>
                <a:latin typeface="Segoe UI"/>
              </a:rPr>
              <a:t>(hồ sơ số có phiên bản)</a:t>
            </a:r>
          </a:p>
        </p:txBody>
      </p:sp>
      <p:sp>
        <p:nvSpPr>
          <p:cNvPr id="5" name="role_box"/>
          <p:cNvSpPr/>
          <p:nvPr/>
        </p:nvSpPr>
        <p:spPr>
          <a:xfrm>
            <a:off x="914400" y="210312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Điều phối hồ sơ (Case Orchestrator)</a:t>
            </a:r>
          </a:p>
        </p:txBody>
      </p:sp>
      <p:sp>
        <p:nvSpPr>
          <p:cNvPr id="6" name="role_box"/>
          <p:cNvSpPr/>
          <p:nvPr/>
        </p:nvSpPr>
        <p:spPr>
          <a:xfrm>
            <a:off x="4023360" y="210312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Tiếp nhận nhu cầu (Intake)</a:t>
            </a:r>
          </a:p>
        </p:txBody>
      </p:sp>
      <p:sp>
        <p:nvSpPr>
          <p:cNvPr id="7" name="role_box"/>
          <p:cNvSpPr/>
          <p:nvPr/>
        </p:nvSpPr>
        <p:spPr>
          <a:xfrm>
            <a:off x="7132320" y="210312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Thẩm định tín dụng (Underwriting)</a:t>
            </a:r>
          </a:p>
        </p:txBody>
      </p:sp>
      <p:sp>
        <p:nvSpPr>
          <p:cNvPr id="8" name="role_box"/>
          <p:cNvSpPr/>
          <p:nvPr/>
        </p:nvSpPr>
        <p:spPr>
          <a:xfrm>
            <a:off x="914400" y="420624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Pháp lý – Tuân thủ – TSBĐ</a:t>
            </a:r>
          </a:p>
        </p:txBody>
      </p:sp>
      <p:sp>
        <p:nvSpPr>
          <p:cNvPr id="9" name="role_box"/>
          <p:cNvSpPr/>
          <p:nvPr/>
        </p:nvSpPr>
        <p:spPr>
          <a:xfrm>
            <a:off x="4023360" y="420624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Kiểm soát rủi ro độc lập</a:t>
            </a:r>
          </a:p>
        </p:txBody>
      </p:sp>
      <p:sp>
        <p:nvSpPr>
          <p:cNvPr id="10" name="role_box"/>
          <p:cNvSpPr/>
          <p:nvPr/>
        </p:nvSpPr>
        <p:spPr>
          <a:xfrm>
            <a:off x="7132320" y="4206240"/>
            <a:ext cx="274320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Vận hành tín dụng</a:t>
            </a:r>
          </a:p>
        </p:txBody>
      </p:sp>
      <p:sp>
        <p:nvSpPr>
          <p:cNvPr id="11" name="screenshot_placeholder"/>
          <p:cNvSpPr/>
          <p:nvPr/>
        </p:nvSpPr>
        <p:spPr>
          <a:xfrm>
            <a:off x="10058400" y="2103120"/>
            <a:ext cx="1828800" cy="2880360"/>
          </a:xfrm>
          <a:prstGeom prst="rect">
            <a:avLst/>
          </a:prstGeom>
          <a:solidFill>
            <a:srgbClr val="E9E9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8A8A8A"/>
                </a:solidFill>
                <a:latin typeface="Segoe UI"/>
              </a:rPr>
              <a:t>[ẢNH MÀN HÌNH DASHBOARD — chèn khi demo sẵn sàng]</a:t>
            </a:r>
          </a:p>
        </p:txBody>
      </p:sp>
      <p:sp>
        <p:nvSpPr>
          <p:cNvPr id="12" name="promise"/>
          <p:cNvSpPr/>
          <p:nvPr/>
        </p:nvSpPr>
        <p:spPr>
          <a:xfrm>
            <a:off x="457200" y="5623560"/>
            <a:ext cx="3657600" cy="68580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Một đội ngũ — không phải một chatbot</a:t>
            </a:r>
          </a:p>
        </p:txBody>
      </p:sp>
      <p:sp>
        <p:nvSpPr>
          <p:cNvPr id="13" name="promise"/>
          <p:cNvSpPr/>
          <p:nvPr/>
        </p:nvSpPr>
        <p:spPr>
          <a:xfrm>
            <a:off x="4297680" y="5623560"/>
            <a:ext cx="3657600" cy="68580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Mọi kết luận đều có bằng chứng</a:t>
            </a:r>
          </a:p>
        </p:txBody>
      </p:sp>
      <p:sp>
        <p:nvSpPr>
          <p:cNvPr id="14" name="promise"/>
          <p:cNvSpPr/>
          <p:nvPr/>
        </p:nvSpPr>
        <p:spPr>
          <a:xfrm>
            <a:off x="8138160" y="5623560"/>
            <a:ext cx="3657600" cy="68580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Con người quyết định</a:t>
            </a:r>
          </a:p>
        </p:txBody>
      </p:sp>
      <p:sp>
        <p:nvSpPr>
          <p:cNvPr id="15"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4/18</a:t>
            </a:r>
          </a:p>
          <a:p>
            <a:pPr algn="l"/>
            <a:r>
              <a:rPr sz="700" b="0" i="0">
                <a:solidFill>
                  <a:srgbClr val="8A8A8A"/>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Từ xử lý thủ công sang hồ sơ được chuẩn bị sẵn</a:t>
            </a:r>
          </a:p>
        </p:txBody>
      </p:sp>
      <p:sp>
        <p:nvSpPr>
          <p:cNvPr id="3" name="col_before"/>
          <p:cNvSpPr/>
          <p:nvPr/>
        </p:nvSpPr>
        <p:spPr>
          <a:xfrm>
            <a:off x="548640" y="1234440"/>
            <a:ext cx="5486400" cy="457200"/>
          </a:xfrm>
          <a:prstGeom prst="roundRect">
            <a:avLst>
              <a:gd name="adj" fmla="val 10000"/>
            </a:avLst>
          </a:prstGeom>
          <a:solidFill>
            <a:srgbClr val="44506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TRƯỚC</a:t>
            </a:r>
          </a:p>
        </p:txBody>
      </p:sp>
      <p:sp>
        <p:nvSpPr>
          <p:cNvPr id="4" name="col_after"/>
          <p:cNvSpPr/>
          <p:nvPr/>
        </p:nvSpPr>
        <p:spPr>
          <a:xfrm>
            <a:off x="6263640" y="1234440"/>
            <a:ext cx="5486400" cy="45720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SAU</a:t>
            </a:r>
          </a:p>
        </p:txBody>
      </p:sp>
      <p:sp>
        <p:nvSpPr>
          <p:cNvPr id="5" name="bullets"/>
          <p:cNvSpPr txBox="1"/>
          <p:nvPr/>
        </p:nvSpPr>
        <p:spPr>
          <a:xfrm>
            <a:off x="548640" y="1828800"/>
            <a:ext cx="5486400" cy="292608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Tài liệu đến qua email / Zalo</a:t>
            </a:r>
          </a:p>
          <a:p>
            <a:pPr algn="l">
              <a:lnSpc>
                <a:spcPct val="112000"/>
              </a:lnSpc>
              <a:spcAft>
                <a:spcPts val="500"/>
              </a:spcAft>
            </a:pPr>
            <a:r>
              <a:rPr sz="1100" b="0" i="0">
                <a:solidFill>
                  <a:srgbClr val="445063"/>
                </a:solidFill>
                <a:latin typeface="Segoe UI"/>
              </a:rPr>
              <a:t>•  Cán bộ phân loại, gõ lại số liệu</a:t>
            </a:r>
          </a:p>
          <a:p>
            <a:pPr algn="l">
              <a:lnSpc>
                <a:spcPct val="112000"/>
              </a:lnSpc>
              <a:spcAft>
                <a:spcPts val="500"/>
              </a:spcAft>
            </a:pPr>
            <a:r>
              <a:rPr sz="1100" b="0" i="0">
                <a:solidFill>
                  <a:srgbClr val="445063"/>
                </a:solidFill>
                <a:latin typeface="Segoe UI"/>
              </a:rPr>
              <a:t>•  Thiếu giấy tờ: phát hiện sau nhiều tuần</a:t>
            </a:r>
          </a:p>
          <a:p>
            <a:pPr algn="l">
              <a:lnSpc>
                <a:spcPct val="112000"/>
              </a:lnSpc>
              <a:spcAft>
                <a:spcPts val="500"/>
              </a:spcAft>
            </a:pPr>
            <a:r>
              <a:rPr sz="1100" b="0" i="0">
                <a:solidFill>
                  <a:srgbClr val="445063"/>
                </a:solidFill>
                <a:latin typeface="Segoe UI"/>
              </a:rPr>
              <a:t>•  Khách hàng bị hỏi đi hỏi lại</a:t>
            </a:r>
          </a:p>
          <a:p>
            <a:pPr algn="l">
              <a:lnSpc>
                <a:spcPct val="112000"/>
              </a:lnSpc>
              <a:spcAft>
                <a:spcPts val="500"/>
              </a:spcAft>
            </a:pPr>
            <a:r>
              <a:rPr sz="1100" b="0" i="0">
                <a:solidFill>
                  <a:srgbClr val="445063"/>
                </a:solidFill>
                <a:latin typeface="Segoe UI"/>
              </a:rPr>
              <a:t>•  Thẩm định đọc lại toàn bộ hồ sơ</a:t>
            </a:r>
          </a:p>
          <a:p>
            <a:pPr algn="l">
              <a:lnSpc>
                <a:spcPct val="112000"/>
              </a:lnSpc>
              <a:spcAft>
                <a:spcPts val="500"/>
              </a:spcAft>
            </a:pPr>
            <a:r>
              <a:rPr sz="1100" b="0" i="0">
                <a:solidFill>
                  <a:srgbClr val="445063"/>
                </a:solidFill>
                <a:latin typeface="Segoe UI"/>
              </a:rPr>
              <a:t>•  Tờ trình lắp ghép copy-paste</a:t>
            </a:r>
          </a:p>
        </p:txBody>
      </p:sp>
      <p:sp>
        <p:nvSpPr>
          <p:cNvPr id="6" name="bullets"/>
          <p:cNvSpPr txBox="1"/>
          <p:nvPr/>
        </p:nvSpPr>
        <p:spPr>
          <a:xfrm>
            <a:off x="6263640" y="1828800"/>
            <a:ext cx="5486400" cy="2926080"/>
          </a:xfrm>
          <a:prstGeom prst="rect">
            <a:avLst/>
          </a:prstGeom>
          <a:noFill/>
        </p:spPr>
        <p:txBody>
          <a:bodyPr wrap="square">
            <a:spAutoFit/>
          </a:bodyPr>
          <a:lstStyle/>
          <a:p>
            <a:pPr algn="l">
              <a:lnSpc>
                <a:spcPct val="112000"/>
              </a:lnSpc>
              <a:spcAft>
                <a:spcPts val="500"/>
              </a:spcAft>
            </a:pPr>
            <a:r>
              <a:rPr sz="1100" b="0" i="0">
                <a:solidFill>
                  <a:srgbClr val="1A1A1A"/>
                </a:solidFill>
                <a:latin typeface="Segoe UI"/>
              </a:rPr>
              <a:t>•  Tải lên một lần — agent phân loại, trích xuất kèm độ tin cậy</a:t>
            </a:r>
          </a:p>
          <a:p>
            <a:pPr algn="l">
              <a:lnSpc>
                <a:spcPct val="112000"/>
              </a:lnSpc>
              <a:spcAft>
                <a:spcPts val="500"/>
              </a:spcAft>
            </a:pPr>
            <a:r>
              <a:rPr sz="1100" b="0" i="0">
                <a:solidFill>
                  <a:srgbClr val="1A1A1A"/>
                </a:solidFill>
                <a:latin typeface="Segoe UI"/>
              </a:rPr>
              <a:t>•  Cán bộ xác nhận từng tài liệu</a:t>
            </a:r>
          </a:p>
          <a:p>
            <a:pPr algn="l">
              <a:lnSpc>
                <a:spcPct val="112000"/>
              </a:lnSpc>
              <a:spcAft>
                <a:spcPts val="500"/>
              </a:spcAft>
            </a:pPr>
            <a:r>
              <a:rPr sz="1100" b="0" i="0">
                <a:solidFill>
                  <a:srgbClr val="1A1A1A"/>
                </a:solidFill>
                <a:latin typeface="Segoe UI"/>
              </a:rPr>
              <a:t>•  Thiếu sót &amp; mâu thuẫn hiện ngay, kèm đề xuất bổ sung (người duyệt)</a:t>
            </a:r>
          </a:p>
          <a:p>
            <a:pPr algn="l">
              <a:lnSpc>
                <a:spcPct val="112000"/>
              </a:lnSpc>
              <a:spcAft>
                <a:spcPts val="500"/>
              </a:spcAft>
            </a:pPr>
            <a:r>
              <a:rPr sz="1100" b="0" i="0">
                <a:solidFill>
                  <a:srgbClr val="1A1A1A"/>
                </a:solidFill>
                <a:latin typeface="Segoe UI"/>
              </a:rPr>
              <a:t>•  Thẩm định + Pháp lý chạy song song trên cùng hồ sơ</a:t>
            </a:r>
          </a:p>
          <a:p>
            <a:pPr algn="l">
              <a:lnSpc>
                <a:spcPct val="112000"/>
              </a:lnSpc>
              <a:spcAft>
                <a:spcPts val="500"/>
              </a:spcAft>
            </a:pPr>
            <a:r>
              <a:rPr sz="1100" b="0" i="0">
                <a:solidFill>
                  <a:srgbClr val="1A1A1A"/>
                </a:solidFill>
                <a:latin typeface="Segoe UI"/>
              </a:rPr>
              <a:t>•  Phản biện độc lập maker–checker</a:t>
            </a:r>
          </a:p>
          <a:p>
            <a:pPr algn="l">
              <a:lnSpc>
                <a:spcPct val="112000"/>
              </a:lnSpc>
              <a:spcAft>
                <a:spcPts val="500"/>
              </a:spcAft>
            </a:pPr>
            <a:r>
              <a:rPr sz="1100" b="0" i="0">
                <a:solidFill>
                  <a:srgbClr val="1A1A1A"/>
                </a:solidFill>
                <a:latin typeface="Segoe UI"/>
              </a:rPr>
              <a:t>•  Tờ trình kèm trích dẫn bấm-để-xem</a:t>
            </a:r>
          </a:p>
        </p:txBody>
      </p:sp>
      <p:sp>
        <p:nvSpPr>
          <p:cNvPr id="7" name="time_bar"/>
          <p:cNvSpPr/>
          <p:nvPr/>
        </p:nvSpPr>
        <p:spPr>
          <a:xfrm>
            <a:off x="548640" y="4892040"/>
            <a:ext cx="5486400" cy="457200"/>
          </a:xfrm>
          <a:prstGeom prst="roundRect">
            <a:avLst>
              <a:gd name="adj" fmla="val 10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NHIỀU TUẦN</a:t>
            </a:r>
          </a:p>
        </p:txBody>
      </p:sp>
      <p:sp>
        <p:nvSpPr>
          <p:cNvPr id="8" name="time_bar"/>
          <p:cNvSpPr/>
          <p:nvPr/>
        </p:nvSpPr>
        <p:spPr>
          <a:xfrm>
            <a:off x="6263640" y="4892040"/>
            <a:ext cx="2194560" cy="457200"/>
          </a:xfrm>
          <a:prstGeom prst="roundRect">
            <a:avLst>
              <a:gd name="adj" fmla="val 10000"/>
            </a:avLst>
          </a:prstGeom>
          <a:solidFill>
            <a:srgbClr val="1E7A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Segoe UI"/>
              </a:rPr>
              <a:t>VÀI NGÀY</a:t>
            </a:r>
          </a:p>
        </p:txBody>
      </p:sp>
      <p:sp>
        <p:nvSpPr>
          <p:cNvPr id="9"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Trước: con người phục vụ hồ sơ. Sau: hồ sơ được chuẩn bị để con người quyết định.</a:t>
            </a:r>
          </a:p>
        </p:txBody>
      </p:sp>
      <p:sp>
        <p:nvSpPr>
          <p:cNvPr id="10"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5/18</a:t>
            </a:r>
          </a:p>
          <a:p>
            <a:pPr algn="l"/>
            <a:r>
              <a:rPr sz="700" b="0" i="0">
                <a:solidFill>
                  <a:srgbClr val="8A8A8A"/>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Một hồ sơ hoàn chỉnh, trong một cuộc trình diễn</a:t>
            </a:r>
          </a:p>
        </p:txBody>
      </p:sp>
      <p:sp>
        <p:nvSpPr>
          <p:cNvPr id="3" name="story_card"/>
          <p:cNvSpPr/>
          <p:nvPr/>
        </p:nvSpPr>
        <p:spPr>
          <a:xfrm>
            <a:off x="548640" y="1371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1. Tạo hồ sơ, tải ~20 tài liệu của Minh An</a:t>
            </a:r>
          </a:p>
        </p:txBody>
      </p:sp>
      <p:sp>
        <p:nvSpPr>
          <p:cNvPr id="4" name="story_card"/>
          <p:cNvSpPr/>
          <p:nvPr/>
        </p:nvSpPr>
        <p:spPr>
          <a:xfrm>
            <a:off x="4480560" y="1371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2. Agent phân loại &amp; trích xuất — cán bộ xác nhận từng tài liệu</a:t>
            </a:r>
          </a:p>
        </p:txBody>
      </p:sp>
      <p:sp>
        <p:nvSpPr>
          <p:cNvPr id="5" name="story_card"/>
          <p:cNvSpPr/>
          <p:nvPr/>
        </p:nvSpPr>
        <p:spPr>
          <a:xfrm>
            <a:off x="8412480" y="1371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3. Bắt mâu thuẫn: doanh thu BCTC ≠ sao kê → khoảng trống BLOCKING → người duyệt yêu cầu bổ sung</a:t>
            </a:r>
          </a:p>
        </p:txBody>
      </p:sp>
      <p:sp>
        <p:nvSpPr>
          <p:cNvPr id="6" name="story_card"/>
          <p:cNvSpPr/>
          <p:nvPr/>
        </p:nvSpPr>
        <p:spPr>
          <a:xfrm>
            <a:off x="548640" y="3657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4. Thẩm định + Pháp lý song song; công cụ tính toán xác định</a:t>
            </a:r>
          </a:p>
        </p:txBody>
      </p:sp>
      <p:sp>
        <p:nvSpPr>
          <p:cNvPr id="7" name="story_card"/>
          <p:cNvSpPr/>
          <p:nvPr/>
        </p:nvSpPr>
        <p:spPr>
          <a:xfrm>
            <a:off x="4480560" y="3657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5. Kiểm soát rủi ro chất vấn: nguồn trả nợ tập trung một người mua — maker phản hồi, đối thoại được lưu vết</a:t>
            </a:r>
          </a:p>
        </p:txBody>
      </p:sp>
      <p:sp>
        <p:nvSpPr>
          <p:cNvPr id="8" name="story_card"/>
          <p:cNvSpPr/>
          <p:nvPr/>
        </p:nvSpPr>
        <p:spPr>
          <a:xfrm>
            <a:off x="8412480" y="3657600"/>
            <a:ext cx="3749039" cy="210312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6. Tờ trình dự thảo — mỗi con số bấm về nguồn; gate chờ con người quyết định</a:t>
            </a:r>
          </a:p>
        </p:txBody>
      </p:sp>
      <p:sp>
        <p:nvSpPr>
          <p:cNvPr id="9" name="screenshot_placeholder"/>
          <p:cNvSpPr/>
          <p:nvPr/>
        </p:nvSpPr>
        <p:spPr>
          <a:xfrm>
            <a:off x="548640" y="5852160"/>
            <a:ext cx="11247120" cy="411480"/>
          </a:xfrm>
          <a:prstGeom prst="rect">
            <a:avLst/>
          </a:prstGeom>
          <a:solidFill>
            <a:srgbClr val="E9E9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8A8A8A"/>
                </a:solidFill>
                <a:latin typeface="Segoe UI"/>
              </a:rPr>
              <a:t>[ẢNH MÀN HÌNH TỪNG BƯỚC — chèn khi demo sẵn sàng]</a:t>
            </a:r>
          </a:p>
        </p:txBody>
      </p:sp>
      <p:sp>
        <p:nvSpPr>
          <p:cNvPr id="10"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6/18</a:t>
            </a:r>
          </a:p>
          <a:p>
            <a:pPr algn="l"/>
            <a:r>
              <a:rPr sz="700" b="0" i="0">
                <a:solidFill>
                  <a:srgbClr val="8A8A8A"/>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Hệ thống không trò chuyện về hồ sơ. Hệ thống xử lý hồ sơ.</a:t>
            </a:r>
          </a:p>
        </p:txBody>
      </p:sp>
      <p:sp>
        <p:nvSpPr>
          <p:cNvPr id="3" name="chevron"/>
          <p:cNvSpPr/>
          <p:nvPr/>
        </p:nvSpPr>
        <p:spPr>
          <a:xfrm>
            <a:off x="457200" y="1737360"/>
            <a:ext cx="2743200" cy="1371600"/>
          </a:xfrm>
          <a:prstGeom prst="chevron">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1. Tiếp nhận nhu cầu</a:t>
            </a:r>
          </a:p>
        </p:txBody>
      </p:sp>
      <p:sp>
        <p:nvSpPr>
          <p:cNvPr id="4" name="chevron"/>
          <p:cNvSpPr/>
          <p:nvPr/>
        </p:nvSpPr>
        <p:spPr>
          <a:xfrm>
            <a:off x="3337560" y="1737360"/>
            <a:ext cx="2743200" cy="1371600"/>
          </a:xfrm>
          <a:prstGeom prst="chevron">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2. Số hoá &amp; phân loại</a:t>
            </a:r>
          </a:p>
        </p:txBody>
      </p:sp>
      <p:sp>
        <p:nvSpPr>
          <p:cNvPr id="5" name="chevron"/>
          <p:cNvSpPr/>
          <p:nvPr/>
        </p:nvSpPr>
        <p:spPr>
          <a:xfrm>
            <a:off x="6217920" y="1737360"/>
            <a:ext cx="2743200" cy="1371600"/>
          </a:xfrm>
          <a:prstGeom prst="chevron">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3. Trích xuất dữ kiện</a:t>
            </a:r>
          </a:p>
        </p:txBody>
      </p:sp>
      <p:sp>
        <p:nvSpPr>
          <p:cNvPr id="6" name="chevron"/>
          <p:cNvSpPr/>
          <p:nvPr/>
        </p:nvSpPr>
        <p:spPr>
          <a:xfrm>
            <a:off x="9098280" y="1737360"/>
            <a:ext cx="2743200" cy="1371600"/>
          </a:xfrm>
          <a:prstGeom prst="chevron">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4. Cán bộ xác nhận</a:t>
            </a:r>
          </a:p>
        </p:txBody>
      </p:sp>
      <p:sp>
        <p:nvSpPr>
          <p:cNvPr id="7" name="chevron"/>
          <p:cNvSpPr/>
          <p:nvPr/>
        </p:nvSpPr>
        <p:spPr>
          <a:xfrm>
            <a:off x="457200" y="3474720"/>
            <a:ext cx="2743200" cy="137160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5. Khoảng trống &amp; xung đột</a:t>
            </a:r>
          </a:p>
        </p:txBody>
      </p:sp>
      <p:sp>
        <p:nvSpPr>
          <p:cNvPr id="8" name="chevron"/>
          <p:cNvSpPr/>
          <p:nvPr/>
        </p:nvSpPr>
        <p:spPr>
          <a:xfrm>
            <a:off x="3337560" y="3474720"/>
            <a:ext cx="2743200" cy="137160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6. Phân tích song song</a:t>
            </a:r>
          </a:p>
        </p:txBody>
      </p:sp>
      <p:sp>
        <p:nvSpPr>
          <p:cNvPr id="9" name="chevron"/>
          <p:cNvSpPr/>
          <p:nvPr/>
        </p:nvSpPr>
        <p:spPr>
          <a:xfrm>
            <a:off x="6217920" y="3474720"/>
            <a:ext cx="2743200" cy="137160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7. Phản biện độc lập</a:t>
            </a:r>
          </a:p>
        </p:txBody>
      </p:sp>
      <p:sp>
        <p:nvSpPr>
          <p:cNvPr id="10" name="chevron"/>
          <p:cNvSpPr/>
          <p:nvPr/>
        </p:nvSpPr>
        <p:spPr>
          <a:xfrm>
            <a:off x="9098280" y="3474720"/>
            <a:ext cx="2743200" cy="1371600"/>
          </a:xfrm>
          <a:prstGeom prst="chevron">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8. Tờ trình &amp; gate phê duyệt</a:t>
            </a:r>
          </a:p>
        </p:txBody>
      </p:sp>
      <p:sp>
        <p:nvSpPr>
          <p:cNvPr id="11"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Chat không phải là hồ sơ. Hồ sơ là Credit Case Digital Twin — có phiên bản, có bằng chứng, có kiểm toán.</a:t>
            </a:r>
          </a:p>
        </p:txBody>
      </p:sp>
      <p:sp>
        <p:nvSpPr>
          <p:cNvPr id="12"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7/18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Mọi kết luận đều được truy vết — không phỏng đoán.</a:t>
            </a:r>
          </a:p>
        </p:txBody>
      </p:sp>
      <p:sp>
        <p:nvSpPr>
          <p:cNvPr id="3" name="chain_box"/>
          <p:cNvSpPr/>
          <p:nvPr/>
        </p:nvSpPr>
        <p:spPr>
          <a:xfrm>
            <a:off x="548640" y="1234440"/>
            <a:ext cx="5120640" cy="5486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Phiên bản tài liệu</a:t>
            </a:r>
          </a:p>
        </p:txBody>
      </p:sp>
      <p:sp>
        <p:nvSpPr>
          <p:cNvPr id="4" name="chain_box"/>
          <p:cNvSpPr/>
          <p:nvPr/>
        </p:nvSpPr>
        <p:spPr>
          <a:xfrm>
            <a:off x="548640" y="1892808"/>
            <a:ext cx="5120640" cy="54864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Trang / vùng</a:t>
            </a:r>
          </a:p>
        </p:txBody>
      </p:sp>
      <p:sp>
        <p:nvSpPr>
          <p:cNvPr id="5" name="chain_box"/>
          <p:cNvSpPr/>
          <p:nvPr/>
        </p:nvSpPr>
        <p:spPr>
          <a:xfrm>
            <a:off x="548640" y="2551176"/>
            <a:ext cx="5120640" cy="5486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Dữ kiện trích xuất</a:t>
            </a:r>
          </a:p>
        </p:txBody>
      </p:sp>
      <p:sp>
        <p:nvSpPr>
          <p:cNvPr id="6" name="chain_box"/>
          <p:cNvSpPr/>
          <p:nvPr/>
        </p:nvSpPr>
        <p:spPr>
          <a:xfrm>
            <a:off x="548640" y="3209544"/>
            <a:ext cx="5120640" cy="54864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Tính toán xác định / trích dẫn chính sách</a:t>
            </a:r>
          </a:p>
        </p:txBody>
      </p:sp>
      <p:sp>
        <p:nvSpPr>
          <p:cNvPr id="7" name="chain_box"/>
          <p:cNvSpPr/>
          <p:nvPr/>
        </p:nvSpPr>
        <p:spPr>
          <a:xfrm>
            <a:off x="548640" y="3867912"/>
            <a:ext cx="5120640" cy="5486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Nhận định (finding)</a:t>
            </a:r>
          </a:p>
        </p:txBody>
      </p:sp>
      <p:sp>
        <p:nvSpPr>
          <p:cNvPr id="8" name="chain_box"/>
          <p:cNvSpPr/>
          <p:nvPr/>
        </p:nvSpPr>
        <p:spPr>
          <a:xfrm>
            <a:off x="548640" y="4526280"/>
            <a:ext cx="5120640" cy="54864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Phản biện độc lập</a:t>
            </a:r>
          </a:p>
        </p:txBody>
      </p:sp>
      <p:sp>
        <p:nvSpPr>
          <p:cNvPr id="9" name="chain_box"/>
          <p:cNvSpPr/>
          <p:nvPr/>
        </p:nvSpPr>
        <p:spPr>
          <a:xfrm>
            <a:off x="548640" y="5184648"/>
            <a:ext cx="5120640" cy="54864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Phê duyệt của con người</a:t>
            </a:r>
          </a:p>
        </p:txBody>
      </p:sp>
      <p:sp>
        <p:nvSpPr>
          <p:cNvPr id="10" name="TextBox 9"/>
          <p:cNvSpPr txBox="1"/>
          <p:nvPr/>
        </p:nvSpPr>
        <p:spPr>
          <a:xfrm>
            <a:off x="6126480" y="1234440"/>
            <a:ext cx="5577840" cy="365760"/>
          </a:xfrm>
          <a:prstGeom prst="rect">
            <a:avLst/>
          </a:prstGeom>
          <a:noFill/>
        </p:spPr>
        <p:txBody>
          <a:bodyPr wrap="square">
            <a:spAutoFit/>
          </a:bodyPr>
          <a:lstStyle/>
          <a:p>
            <a:pPr algn="l"/>
            <a:r>
              <a:rPr sz="1100" b="1" i="0">
                <a:solidFill>
                  <a:srgbClr val="0B2D5B"/>
                </a:solidFill>
                <a:latin typeface="Segoe UI"/>
              </a:rPr>
              <a:t>Cấu trúc một bản ghi khoảng trống:</a:t>
            </a:r>
          </a:p>
        </p:txBody>
      </p:sp>
      <p:sp>
        <p:nvSpPr>
          <p:cNvPr id="11" name="bullets"/>
          <p:cNvSpPr txBox="1"/>
          <p:nvPr/>
        </p:nvSpPr>
        <p:spPr>
          <a:xfrm>
            <a:off x="6126480" y="1645920"/>
            <a:ext cx="5577840" cy="292608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Vấn đề &amp; bằng chứng hiện có</a:t>
            </a:r>
          </a:p>
          <a:p>
            <a:pPr algn="l">
              <a:lnSpc>
                <a:spcPct val="112000"/>
              </a:lnSpc>
              <a:spcAft>
                <a:spcPts val="500"/>
              </a:spcAft>
            </a:pPr>
            <a:r>
              <a:rPr sz="1100" b="0" i="0">
                <a:solidFill>
                  <a:srgbClr val="445063"/>
                </a:solidFill>
                <a:latin typeface="Segoe UI"/>
              </a:rPr>
              <a:t>•  Thông tin còn thiếu</a:t>
            </a:r>
          </a:p>
          <a:p>
            <a:pPr algn="l">
              <a:lnSpc>
                <a:spcPct val="112000"/>
              </a:lnSpc>
              <a:spcAft>
                <a:spcPts val="500"/>
              </a:spcAft>
            </a:pPr>
            <a:r>
              <a:rPr sz="1100" b="0" i="0">
                <a:solidFill>
                  <a:srgbClr val="445063"/>
                </a:solidFill>
                <a:latin typeface="Segoe UI"/>
              </a:rPr>
              <a:t>•  Tài liệu đề xuất + lý do</a:t>
            </a:r>
          </a:p>
          <a:p>
            <a:pPr algn="l">
              <a:lnSpc>
                <a:spcPct val="112000"/>
              </a:lnSpc>
              <a:spcAft>
                <a:spcPts val="500"/>
              </a:spcAft>
            </a:pPr>
            <a:r>
              <a:rPr sz="1100" b="0" i="0">
                <a:solidFill>
                  <a:srgbClr val="445063"/>
                </a:solidFill>
                <a:latin typeface="Segoe UI"/>
              </a:rPr>
              <a:t>•  Cơ sở chính sách</a:t>
            </a:r>
          </a:p>
          <a:p>
            <a:pPr algn="l">
              <a:lnSpc>
                <a:spcPct val="112000"/>
              </a:lnSpc>
              <a:spcAft>
                <a:spcPts val="500"/>
              </a:spcAft>
            </a:pPr>
            <a:r>
              <a:rPr sz="1100" b="0" i="0">
                <a:solidFill>
                  <a:srgbClr val="445063"/>
                </a:solidFill>
                <a:latin typeface="Segoe UI"/>
              </a:rPr>
              <a:t>•  Mức độ: BLOCKING / CONDITIONAL / CLARIFICATION</a:t>
            </a:r>
          </a:p>
          <a:p>
            <a:pPr algn="l">
              <a:lnSpc>
                <a:spcPct val="112000"/>
              </a:lnSpc>
              <a:spcAft>
                <a:spcPts val="500"/>
              </a:spcAft>
            </a:pPr>
            <a:r>
              <a:rPr sz="1100" b="0" i="0">
                <a:solidFill>
                  <a:srgbClr val="445063"/>
                </a:solidFill>
                <a:latin typeface="Segoe UI"/>
              </a:rPr>
              <a:t>•  Tác vụ bị ảnh hưởng</a:t>
            </a:r>
          </a:p>
          <a:p>
            <a:pPr algn="l">
              <a:lnSpc>
                <a:spcPct val="112000"/>
              </a:lnSpc>
              <a:spcAft>
                <a:spcPts val="500"/>
              </a:spcAft>
            </a:pPr>
            <a:r>
              <a:rPr sz="1100" b="0" i="0">
                <a:solidFill>
                  <a:srgbClr val="445063"/>
                </a:solidFill>
                <a:latin typeface="Segoe UI"/>
              </a:rPr>
              <a:t>•  Trạng thái phê duyệt</a:t>
            </a:r>
          </a:p>
        </p:txBody>
      </p:sp>
      <p:sp>
        <p:nvSpPr>
          <p:cNvPr id="12" name="screenshot_placeholder"/>
          <p:cNvSpPr/>
          <p:nvPr/>
        </p:nvSpPr>
        <p:spPr>
          <a:xfrm>
            <a:off x="6126480" y="4663440"/>
            <a:ext cx="5577840" cy="1188720"/>
          </a:xfrm>
          <a:prstGeom prst="rect">
            <a:avLst/>
          </a:prstGeom>
          <a:solidFill>
            <a:srgbClr val="E9E9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8A8A8A"/>
                </a:solidFill>
                <a:latin typeface="Segoe UI"/>
              </a:rPr>
              <a:t>[VÍ DỤ MINH AN: con số vốn lưu động truy về nguồn — chèn khi demo sẵn sàng]</a:t>
            </a:r>
          </a:p>
        </p:txBody>
      </p:sp>
      <p:sp>
        <p:nvSpPr>
          <p:cNvPr id="13"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8/18</a:t>
            </a:r>
          </a:p>
          <a:p>
            <a:pPr algn="l"/>
            <a:r>
              <a:rPr sz="700" b="0" i="0">
                <a:solidFill>
                  <a:srgbClr val="8A8A8A"/>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Không có con số bịa. Không có chính sách tưởng tượng. Không có kết luận thiếu nguồn.</a:t>
            </a:r>
          </a:p>
        </p:txBody>
      </p:sp>
      <p:sp>
        <p:nvSpPr>
          <p:cNvPr id="3" name="source_box"/>
          <p:cNvSpPr/>
          <p:nvPr/>
        </p:nvSpPr>
        <p:spPr>
          <a:xfrm>
            <a:off x="548640" y="146304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Tài liệu gốc (bất biến, có phiên bản)</a:t>
            </a:r>
          </a:p>
        </p:txBody>
      </p:sp>
      <p:sp>
        <p:nvSpPr>
          <p:cNvPr id="4" name="source_box"/>
          <p:cNvSpPr/>
          <p:nvPr/>
        </p:nvSpPr>
        <p:spPr>
          <a:xfrm>
            <a:off x="3291840" y="146304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Dữ kiện đã được cán bộ xác nhận</a:t>
            </a:r>
          </a:p>
        </p:txBody>
      </p:sp>
      <p:sp>
        <p:nvSpPr>
          <p:cNvPr id="5" name="source_box"/>
          <p:cNvSpPr/>
          <p:nvPr/>
        </p:nvSpPr>
        <p:spPr>
          <a:xfrm>
            <a:off x="548640" y="251460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Công cụ tính toán xác định</a:t>
            </a:r>
          </a:p>
        </p:txBody>
      </p:sp>
      <p:sp>
        <p:nvSpPr>
          <p:cNvPr id="6" name="source_box"/>
          <p:cNvSpPr/>
          <p:nvPr/>
        </p:nvSpPr>
        <p:spPr>
          <a:xfrm>
            <a:off x="3291840" y="251460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Kho chính sách có phiên bản + trích dẫn chính xác</a:t>
            </a:r>
          </a:p>
        </p:txBody>
      </p:sp>
      <p:sp>
        <p:nvSpPr>
          <p:cNvPr id="7" name="source_box"/>
          <p:cNvSpPr/>
          <p:nvPr/>
        </p:nvSpPr>
        <p:spPr>
          <a:xfrm>
            <a:off x="548640" y="356616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Tra cứu KYC/AML mô phỏng, có kiểm soát</a:t>
            </a:r>
          </a:p>
        </p:txBody>
      </p:sp>
      <p:sp>
        <p:nvSpPr>
          <p:cNvPr id="8" name="source_box"/>
          <p:cNvSpPr/>
          <p:nvPr/>
        </p:nvSpPr>
        <p:spPr>
          <a:xfrm>
            <a:off x="3291840" y="3566160"/>
            <a:ext cx="2606040" cy="91440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Nhật ký kiểm toán chỉ-ghi-thêm</a:t>
            </a:r>
          </a:p>
        </p:txBody>
      </p:sp>
      <p:sp>
        <p:nvSpPr>
          <p:cNvPr id="9" name="layer_box"/>
          <p:cNvSpPr/>
          <p:nvPr/>
        </p:nvSpPr>
        <p:spPr>
          <a:xfrm>
            <a:off x="6400800" y="2194560"/>
            <a:ext cx="2377440" cy="146304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LỚP BẰNG CHỨNG</a:t>
            </a:r>
          </a:p>
        </p:txBody>
      </p:sp>
      <p:sp>
        <p:nvSpPr>
          <p:cNvPr id="10" name="out_box"/>
          <p:cNvSpPr/>
          <p:nvPr/>
        </p:nvSpPr>
        <p:spPr>
          <a:xfrm>
            <a:off x="9235440" y="1828800"/>
            <a:ext cx="2468880" cy="914400"/>
          </a:xfrm>
          <a:prstGeom prst="roundRect">
            <a:avLst>
              <a:gd name="adj" fmla="val 10000"/>
            </a:avLst>
          </a:prstGeom>
          <a:solidFill>
            <a:srgbClr val="1E7A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Phản hồi của agent — kèm nguồn</a:t>
            </a:r>
          </a:p>
        </p:txBody>
      </p:sp>
      <p:sp>
        <p:nvSpPr>
          <p:cNvPr id="11" name="abstain_box"/>
          <p:cNvSpPr/>
          <p:nvPr/>
        </p:nvSpPr>
        <p:spPr>
          <a:xfrm>
            <a:off x="9235440" y="3108960"/>
            <a:ext cx="2468880" cy="1097280"/>
          </a:xfrm>
          <a:prstGeom prst="roundRect">
            <a:avLst>
              <a:gd name="adj" fmla="val 10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Thiếu nguồn → từ chối trả lời → chuyển kiểm tra thủ công</a:t>
            </a:r>
          </a:p>
        </p:txBody>
      </p:sp>
      <p:sp>
        <p:nvSpPr>
          <p:cNvPr id="12" name="bullets"/>
          <p:cNvSpPr txBox="1"/>
          <p:nvPr/>
        </p:nvSpPr>
        <p:spPr>
          <a:xfrm>
            <a:off x="548640" y="4754880"/>
            <a:ext cx="11064240" cy="82296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Fail-closed: không có nguồn thì không kết luận</a:t>
            </a:r>
          </a:p>
          <a:p>
            <a:pPr algn="l">
              <a:lnSpc>
                <a:spcPct val="112000"/>
              </a:lnSpc>
              <a:spcAft>
                <a:spcPts val="500"/>
              </a:spcAft>
            </a:pPr>
            <a:r>
              <a:rPr sz="1100" b="0" i="0">
                <a:solidFill>
                  <a:srgbClr val="445063"/>
                </a:solidFill>
                <a:latin typeface="Segoe UI"/>
              </a:rPr>
              <a:t>•  Tài liệu tải lên là dữ liệu, không phải mệnh lệnh — chống chỉ thị ẩn (prompt injection)</a:t>
            </a:r>
          </a:p>
        </p:txBody>
      </p:sp>
      <p:sp>
        <p:nvSpPr>
          <p:cNvPr id="13"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9/18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Kiến trúc cho độ chính xác, chủ quyền dữ liệu và khả năng mở rộng</a:t>
            </a:r>
          </a:p>
        </p:txBody>
      </p:sp>
      <p:sp>
        <p:nvSpPr>
          <p:cNvPr id="3" name="band"/>
          <p:cNvSpPr/>
          <p:nvPr/>
        </p:nvSpPr>
        <p:spPr>
          <a:xfrm>
            <a:off x="548640" y="1280160"/>
            <a:ext cx="786384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Vercel — giao diện tiếng Việt (Next.js)</a:t>
            </a:r>
          </a:p>
        </p:txBody>
      </p:sp>
      <p:sp>
        <p:nvSpPr>
          <p:cNvPr id="4" name="band"/>
          <p:cNvSpPr/>
          <p:nvPr/>
        </p:nvSpPr>
        <p:spPr>
          <a:xfrm>
            <a:off x="548640" y="2194560"/>
            <a:ext cx="7863840" cy="77724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Cloud Run — FastAPI + creditops-worker · máy trạng thái xác định · cổng mô hình trung lập</a:t>
            </a:r>
          </a:p>
        </p:txBody>
      </p:sp>
      <p:sp>
        <p:nvSpPr>
          <p:cNvPr id="5" name="band"/>
          <p:cNvSpPr/>
          <p:nvPr/>
        </p:nvSpPr>
        <p:spPr>
          <a:xfrm>
            <a:off x="548640" y="3108960"/>
            <a:ext cx="7863840" cy="7772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Supabase — Postgres (Digital Twin + EvidenceGraph) · Queues · Storage riêng tư · pgvector</a:t>
            </a:r>
          </a:p>
        </p:txBody>
      </p:sp>
      <p:sp>
        <p:nvSpPr>
          <p:cNvPr id="6" name="band"/>
          <p:cNvSpPr/>
          <p:nvPr/>
        </p:nvSpPr>
        <p:spPr>
          <a:xfrm>
            <a:off x="548640" y="4023360"/>
            <a:ext cx="7863840" cy="777240"/>
          </a:xfrm>
          <a:prstGeom prst="roundRect">
            <a:avLst>
              <a:gd name="adj" fmla="val 10000"/>
            </a:avLst>
          </a:prstGeom>
          <a:solidFill>
            <a:srgbClr val="1F4E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FPT AI Factory — suy luận có quản lý (ứng viên: Qwen3-30B-A3B, SaoLa3.1-medium, FPT.AI-KIE v1.7, Table-Parsing v1.1, Qwen2.5-VL, e5-large / Vietnamese_Embedding)</a:t>
            </a:r>
          </a:p>
        </p:txBody>
      </p:sp>
      <p:sp>
        <p:nvSpPr>
          <p:cNvPr id="7" name="panel"/>
          <p:cNvSpPr/>
          <p:nvPr/>
        </p:nvSpPr>
        <p:spPr>
          <a:xfrm>
            <a:off x="8503920" y="1143000"/>
            <a:ext cx="3291840" cy="3154680"/>
          </a:xfrm>
          <a:prstGeom prst="roundRect">
            <a:avLst>
              <a:gd name="adj" fmla="val 6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280160"/>
            <a:ext cx="3017520" cy="365760"/>
          </a:xfrm>
          <a:prstGeom prst="rect">
            <a:avLst/>
          </a:prstGeom>
          <a:noFill/>
        </p:spPr>
        <p:txBody>
          <a:bodyPr wrap="square">
            <a:spAutoFit/>
          </a:bodyPr>
          <a:lstStyle/>
          <a:p>
            <a:pPr algn="l"/>
            <a:r>
              <a:rPr sz="1100" b="1" i="0">
                <a:solidFill>
                  <a:srgbClr val="0B2D5B"/>
                </a:solidFill>
                <a:latin typeface="Segoe UI"/>
              </a:rPr>
              <a:t>Ranh giới tin cậy:</a:t>
            </a:r>
          </a:p>
        </p:txBody>
      </p:sp>
      <p:sp>
        <p:nvSpPr>
          <p:cNvPr id="9" name="bullets"/>
          <p:cNvSpPr txBox="1"/>
          <p:nvPr/>
        </p:nvSpPr>
        <p:spPr>
          <a:xfrm>
            <a:off x="8686800" y="1691640"/>
            <a:ext cx="3017520" cy="237744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Frontend không bao giờ gọi mô hình</a:t>
            </a:r>
          </a:p>
          <a:p>
            <a:pPr algn="l">
              <a:lnSpc>
                <a:spcPct val="112000"/>
              </a:lnSpc>
              <a:spcAft>
                <a:spcPts val="500"/>
              </a:spcAft>
            </a:pPr>
            <a:r>
              <a:rPr sz="1100" b="0" i="0">
                <a:solidFill>
                  <a:srgbClr val="445063"/>
                </a:solidFill>
                <a:latin typeface="Segoe UI"/>
              </a:rPr>
              <a:t>•  Mô hình không bao giờ sở hữu trạng thái hồ sơ</a:t>
            </a:r>
          </a:p>
          <a:p>
            <a:pPr algn="l">
              <a:lnSpc>
                <a:spcPct val="112000"/>
              </a:lnSpc>
              <a:spcAft>
                <a:spcPts val="500"/>
              </a:spcAft>
            </a:pPr>
            <a:r>
              <a:rPr sz="1100" b="0" i="0">
                <a:solidFill>
                  <a:srgbClr val="445063"/>
                </a:solidFill>
                <a:latin typeface="Segoe UI"/>
              </a:rPr>
              <a:t>•  Mọi đầu ra qua kiểm tra schema trước khi chạm vào hồ sơ</a:t>
            </a:r>
          </a:p>
        </p:txBody>
      </p:sp>
      <p:sp>
        <p:nvSpPr>
          <p:cNvPr id="10" name="TextBox 9"/>
          <p:cNvSpPr txBox="1"/>
          <p:nvPr/>
        </p:nvSpPr>
        <p:spPr>
          <a:xfrm>
            <a:off x="548640" y="5029200"/>
            <a:ext cx="11064240" cy="365760"/>
          </a:xfrm>
          <a:prstGeom prst="rect">
            <a:avLst/>
          </a:prstGeom>
          <a:noFill/>
        </p:spPr>
        <p:txBody>
          <a:bodyPr wrap="square">
            <a:spAutoFit/>
          </a:bodyPr>
          <a:lstStyle/>
          <a:p>
            <a:pPr algn="l"/>
            <a:r>
              <a:rPr sz="1100" b="0" i="0">
                <a:solidFill>
                  <a:srgbClr val="8A8A8A"/>
                </a:solidFill>
                <a:latin typeface="Segoe UI"/>
              </a:rPr>
              <a:t>Tên mô hình là ứng viên — chốt sau benchmark tiếng Việt.</a:t>
            </a:r>
          </a:p>
        </p:txBody>
      </p:sp>
      <p:sp>
        <p:nvSpPr>
          <p:cNvPr id="11"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Mô hình có thể thay. Kiến trúc ra quyết định thì không.</a:t>
            </a:r>
          </a:p>
        </p:txBody>
      </p:sp>
      <p:sp>
        <p:nvSpPr>
          <p:cNvPr id="12"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Chatbot tìm câu trả lời. Chúng tôi chuẩn bị quyết định.</a:t>
            </a:r>
          </a:p>
        </p:txBody>
      </p:sp>
      <p:graphicFrame>
        <p:nvGraphicFramePr>
          <p:cNvPr id="3" name="compare_table"/>
          <p:cNvGraphicFramePr>
            <a:graphicFrameLocks noGrp="1"/>
          </p:cNvGraphicFramePr>
          <p:nvPr/>
        </p:nvGraphicFramePr>
        <p:xfrm>
          <a:off x="457200" y="1280160"/>
          <a:ext cx="11247120" cy="448056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60070">
                <a:tc>
                  <a:txBody>
                    <a:bodyPr/>
                    <a:lstStyle/>
                    <a:p>
                      <a:r>
                        <a:rPr sz="1100" b="1">
                          <a:solidFill>
                            <a:srgbClr val="FFFFFF"/>
                          </a:solidFill>
                          <a:latin typeface="Segoe UI"/>
                        </a:rPr>
                        <a:t>Năng lực</a:t>
                      </a:r>
                    </a:p>
                  </a:txBody>
                  <a:tcPr>
                    <a:solidFill>
                      <a:srgbClr val="0B2D5B"/>
                    </a:solidFill>
                  </a:tcPr>
                </a:tc>
                <a:tc>
                  <a:txBody>
                    <a:bodyPr/>
                    <a:lstStyle/>
                    <a:p>
                      <a:r>
                        <a:rPr sz="1100" b="1">
                          <a:solidFill>
                            <a:srgbClr val="FFFFFF"/>
                          </a:solidFill>
                          <a:latin typeface="Segoe UI"/>
                        </a:rPr>
                        <a:t>Quy trình thủ công</a:t>
                      </a:r>
                    </a:p>
                  </a:txBody>
                  <a:tcPr>
                    <a:solidFill>
                      <a:srgbClr val="0B2D5B"/>
                    </a:solidFill>
                  </a:tcPr>
                </a:tc>
                <a:tc>
                  <a:txBody>
                    <a:bodyPr/>
                    <a:lstStyle/>
                    <a:p>
                      <a:r>
                        <a:rPr sz="1100" b="1">
                          <a:solidFill>
                            <a:srgbClr val="FFFFFF"/>
                          </a:solidFill>
                          <a:latin typeface="Segoe UI"/>
                        </a:rPr>
                        <a:t>Chatbot RAG đơn</a:t>
                      </a:r>
                    </a:p>
                  </a:txBody>
                  <a:tcPr>
                    <a:solidFill>
                      <a:srgbClr val="0B2D5B"/>
                    </a:solidFill>
                  </a:tcPr>
                </a:tc>
                <a:tc>
                  <a:txBody>
                    <a:bodyPr/>
                    <a:lstStyle/>
                    <a:p>
                      <a:r>
                        <a:rPr sz="1100" b="1">
                          <a:solidFill>
                            <a:srgbClr val="FFFFFF"/>
                          </a:solidFill>
                          <a:latin typeface="Segoe UI"/>
                        </a:rPr>
                        <a:t>Multi-agent demo thông thường</a:t>
                      </a:r>
                    </a:p>
                  </a:txBody>
                  <a:tcPr>
                    <a:solidFill>
                      <a:srgbClr val="0B2D5B"/>
                    </a:solidFill>
                  </a:tcPr>
                </a:tc>
                <a:tc>
                  <a:txBody>
                    <a:bodyPr/>
                    <a:lstStyle/>
                    <a:p>
                      <a:r>
                        <a:rPr sz="1100" b="1">
                          <a:solidFill>
                            <a:srgbClr val="FFFFFF"/>
                          </a:solidFill>
                          <a:latin typeface="Segoe UI"/>
                        </a:rPr>
                        <a:t>SHB CreditOps EvidenceGraph</a:t>
                      </a:r>
                    </a:p>
                  </a:txBody>
                  <a:tcPr>
                    <a:solidFill>
                      <a:srgbClr val="0B2D5B"/>
                    </a:solidFill>
                  </a:tcPr>
                </a:tc>
              </a:tr>
              <a:tr h="560070">
                <a:tc>
                  <a:txBody>
                    <a:bodyPr/>
                    <a:lstStyle/>
                    <a:p>
                      <a:r>
                        <a:rPr sz="1100" b="0">
                          <a:solidFill>
                            <a:srgbClr val="1A1A1A"/>
                          </a:solidFill>
                          <a:latin typeface="Segoe UI"/>
                        </a:rPr>
                        <a:t>Đọc &amp; trích xuất tài liệu tiếng Việt (KIE, bảng biểu)</a:t>
                      </a:r>
                    </a:p>
                  </a:txBody>
                  <a:tcPr>
                    <a:solidFill>
                      <a:srgbClr val="FFFFFF"/>
                    </a:solidFill>
                  </a:tcPr>
                </a:tc>
                <a:tc>
                  <a:txBody>
                    <a:bodyPr/>
                    <a:lstStyle/>
                    <a:p>
                      <a:r>
                        <a:rPr sz="1100" b="0">
                          <a:solidFill>
                            <a:srgbClr val="1A1A1A"/>
                          </a:solidFill>
                          <a:latin typeface="Segoe UI"/>
                        </a:rPr>
                        <a:t>Thủ công</a:t>
                      </a:r>
                    </a:p>
                  </a:txBody>
                  <a:tcPr>
                    <a:solidFill>
                      <a:srgbClr val="FFFFFF"/>
                    </a:solidFill>
                  </a:tcPr>
                </a:tc>
                <a:tc>
                  <a:txBody>
                    <a:bodyPr/>
                    <a:lstStyle/>
                    <a:p>
                      <a:r>
                        <a:rPr sz="1100" b="0">
                          <a:solidFill>
                            <a:srgbClr val="1A1A1A"/>
                          </a:solidFill>
                          <a:latin typeface="Segoe UI"/>
                        </a:rPr>
                        <a:t>—</a:t>
                      </a:r>
                    </a:p>
                  </a:txBody>
                  <a:tcPr>
                    <a:solidFill>
                      <a:srgbClr val="FFFFFF"/>
                    </a:solidFill>
                  </a:tcPr>
                </a:tc>
                <a:tc>
                  <a:txBody>
                    <a:bodyPr/>
                    <a:lstStyle/>
                    <a:p>
                      <a:r>
                        <a:rPr sz="1100" b="0">
                          <a:solidFill>
                            <a:srgbClr val="1A1A1A"/>
                          </a:solidFill>
                          <a:latin typeface="Segoe UI"/>
                        </a:rPr>
                        <a:t>Một phần</a:t>
                      </a:r>
                    </a:p>
                  </a:txBody>
                  <a:tcPr>
                    <a:solidFill>
                      <a:srgbClr val="FFFFFF"/>
                    </a:solidFill>
                  </a:tcPr>
                </a:tc>
                <a:tc>
                  <a:txBody>
                    <a:bodyPr/>
                    <a:lstStyle/>
                    <a:p>
                      <a:r>
                        <a:rPr sz="1100" b="0">
                          <a:solidFill>
                            <a:srgbClr val="1A1A1A"/>
                          </a:solidFill>
                          <a:latin typeface="Segoe UI"/>
                        </a:rPr>
                        <a:t>✓</a:t>
                      </a:r>
                    </a:p>
                  </a:txBody>
                  <a:tcPr>
                    <a:solidFill>
                      <a:srgbClr val="FFFFFF"/>
                    </a:solidFill>
                  </a:tcPr>
                </a:tc>
              </a:tr>
              <a:tr h="560070">
                <a:tc>
                  <a:txBody>
                    <a:bodyPr/>
                    <a:lstStyle/>
                    <a:p>
                      <a:r>
                        <a:rPr sz="1100" b="0">
                          <a:solidFill>
                            <a:srgbClr val="1A1A1A"/>
                          </a:solidFill>
                          <a:latin typeface="Segoe UI"/>
                        </a:rPr>
                        <a:t>Phát hiện thiếu sót &amp; mâu thuẫn giữa tài liệu</a:t>
                      </a:r>
                    </a:p>
                  </a:txBody>
                  <a:tcPr>
                    <a:solidFill>
                      <a:srgbClr val="EAF1F9"/>
                    </a:solidFill>
                  </a:tcPr>
                </a:tc>
                <a:tc>
                  <a:txBody>
                    <a:bodyPr/>
                    <a:lstStyle/>
                    <a:p>
                      <a:r>
                        <a:rPr sz="1100" b="0">
                          <a:solidFill>
                            <a:srgbClr val="1A1A1A"/>
                          </a:solidFill>
                          <a:latin typeface="Segoe UI"/>
                        </a:rPr>
                        <a:t>Muộn</a:t>
                      </a:r>
                    </a:p>
                  </a:txBody>
                  <a:tcPr>
                    <a:solidFill>
                      <a:srgbClr val="EAF1F9"/>
                    </a:solidFill>
                  </a:tcPr>
                </a:tc>
                <a:tc>
                  <a:txBody>
                    <a:bodyPr/>
                    <a:lstStyle/>
                    <a:p>
                      <a:r>
                        <a:rPr sz="1100" b="0">
                          <a:solidFill>
                            <a:srgbClr val="1A1A1A"/>
                          </a:solidFill>
                          <a:latin typeface="Segoe UI"/>
                        </a:rPr>
                        <a:t>—</a:t>
                      </a:r>
                    </a:p>
                  </a:txBody>
                  <a:tcPr>
                    <a:solidFill>
                      <a:srgbClr val="EAF1F9"/>
                    </a:solidFill>
                  </a:tcPr>
                </a:tc>
                <a:tc>
                  <a:txBody>
                    <a:bodyPr/>
                    <a:lstStyle/>
                    <a:p>
                      <a:r>
                        <a:rPr sz="1100" b="0">
                          <a:solidFill>
                            <a:srgbClr val="1A1A1A"/>
                          </a:solidFill>
                          <a:latin typeface="Segoe UI"/>
                        </a:rPr>
                        <a:t>Không ổn định</a:t>
                      </a:r>
                    </a:p>
                  </a:txBody>
                  <a:tcPr>
                    <a:solidFill>
                      <a:srgbClr val="EAF1F9"/>
                    </a:solidFill>
                  </a:tcPr>
                </a:tc>
                <a:tc>
                  <a:txBody>
                    <a:bodyPr/>
                    <a:lstStyle/>
                    <a:p>
                      <a:r>
                        <a:rPr sz="1100" b="0">
                          <a:solidFill>
                            <a:srgbClr val="1A1A1A"/>
                          </a:solidFill>
                          <a:latin typeface="Segoe UI"/>
                        </a:rPr>
                        <a:t>✓</a:t>
                      </a:r>
                    </a:p>
                  </a:txBody>
                  <a:tcPr>
                    <a:solidFill>
                      <a:srgbClr val="EAF1F9"/>
                    </a:solidFill>
                  </a:tcPr>
                </a:tc>
              </a:tr>
              <a:tr h="560070">
                <a:tc>
                  <a:txBody>
                    <a:bodyPr/>
                    <a:lstStyle/>
                    <a:p>
                      <a:r>
                        <a:rPr sz="1100" b="0">
                          <a:solidFill>
                            <a:srgbClr val="1A1A1A"/>
                          </a:solidFill>
                          <a:latin typeface="Segoe UI"/>
                        </a:rPr>
                        <a:t>Truy vết bằng chứng cho từng kết luận</a:t>
                      </a:r>
                    </a:p>
                  </a:txBody>
                  <a:tcPr>
                    <a:solidFill>
                      <a:srgbClr val="FFFFFF"/>
                    </a:solidFill>
                  </a:tcPr>
                </a:tc>
                <a:tc>
                  <a:txBody>
                    <a:bodyPr/>
                    <a:lstStyle/>
                    <a:p>
                      <a:r>
                        <a:rPr sz="1100" b="0">
                          <a:solidFill>
                            <a:srgbClr val="1A1A1A"/>
                          </a:solidFill>
                          <a:latin typeface="Segoe UI"/>
                        </a:rPr>
                        <a:t>Rời rạc</a:t>
                      </a:r>
                    </a:p>
                  </a:txBody>
                  <a:tcPr>
                    <a:solidFill>
                      <a:srgbClr val="FFFFFF"/>
                    </a:solidFill>
                  </a:tcPr>
                </a:tc>
                <a:tc>
                  <a:txBody>
                    <a:bodyPr/>
                    <a:lstStyle/>
                    <a:p>
                      <a:r>
                        <a:rPr sz="1100" b="0">
                          <a:solidFill>
                            <a:srgbClr val="1A1A1A"/>
                          </a:solidFill>
                          <a:latin typeface="Segoe UI"/>
                        </a:rPr>
                        <a:t>Nguồn chung chung</a:t>
                      </a:r>
                    </a:p>
                  </a:txBody>
                  <a:tcPr>
                    <a:solidFill>
                      <a:srgbClr val="FFFFFF"/>
                    </a:solidFill>
                  </a:tcPr>
                </a:tc>
                <a:tc>
                  <a:txBody>
                    <a:bodyPr/>
                    <a:lstStyle/>
                    <a:p>
                      <a:r>
                        <a:rPr sz="1100" b="0">
                          <a:solidFill>
                            <a:srgbClr val="1A1A1A"/>
                          </a:solidFill>
                          <a:latin typeface="Segoe UI"/>
                        </a:rPr>
                        <a:t>Hiếm</a:t>
                      </a:r>
                    </a:p>
                  </a:txBody>
                  <a:tcPr>
                    <a:solidFill>
                      <a:srgbClr val="FFFFFF"/>
                    </a:solidFill>
                  </a:tcPr>
                </a:tc>
                <a:tc>
                  <a:txBody>
                    <a:bodyPr/>
                    <a:lstStyle/>
                    <a:p>
                      <a:r>
                        <a:rPr sz="1100" b="0">
                          <a:solidFill>
                            <a:srgbClr val="1A1A1A"/>
                          </a:solidFill>
                          <a:latin typeface="Segoe UI"/>
                        </a:rPr>
                        <a:t>✓</a:t>
                      </a:r>
                    </a:p>
                  </a:txBody>
                  <a:tcPr>
                    <a:solidFill>
                      <a:srgbClr val="FFFFFF"/>
                    </a:solidFill>
                  </a:tcPr>
                </a:tc>
              </a:tr>
              <a:tr h="560070">
                <a:tc>
                  <a:txBody>
                    <a:bodyPr/>
                    <a:lstStyle/>
                    <a:p>
                      <a:r>
                        <a:rPr sz="1100" b="0">
                          <a:solidFill>
                            <a:srgbClr val="1A1A1A"/>
                          </a:solidFill>
                          <a:latin typeface="Segoe UI"/>
                        </a:rPr>
                        <a:t>Phân tách maker–checker (thẩm định ≠ phản biện)</a:t>
                      </a:r>
                    </a:p>
                  </a:txBody>
                  <a:tcPr>
                    <a:solidFill>
                      <a:srgbClr val="EAF1F9"/>
                    </a:solidFill>
                  </a:tcPr>
                </a:tc>
                <a:tc>
                  <a:txBody>
                    <a:bodyPr/>
                    <a:lstStyle/>
                    <a:p>
                      <a:r>
                        <a:rPr sz="1100" b="0">
                          <a:solidFill>
                            <a:srgbClr val="1A1A1A"/>
                          </a:solidFill>
                          <a:latin typeface="Segoe UI"/>
                        </a:rPr>
                        <a:t>✓ (chậm)</a:t>
                      </a:r>
                    </a:p>
                  </a:txBody>
                  <a:tcPr>
                    <a:solidFill>
                      <a:srgbClr val="EAF1F9"/>
                    </a:solidFill>
                  </a:tcPr>
                </a:tc>
                <a:tc>
                  <a:txBody>
                    <a:bodyPr/>
                    <a:lstStyle/>
                    <a:p>
                      <a:r>
                        <a:rPr sz="1100" b="0">
                          <a:solidFill>
                            <a:srgbClr val="1A1A1A"/>
                          </a:solidFill>
                          <a:latin typeface="Segoe UI"/>
                        </a:rPr>
                        <a:t>—</a:t>
                      </a:r>
                    </a:p>
                  </a:txBody>
                  <a:tcPr>
                    <a:solidFill>
                      <a:srgbClr val="EAF1F9"/>
                    </a:solidFill>
                  </a:tcPr>
                </a:tc>
                <a:tc>
                  <a:txBody>
                    <a:bodyPr/>
                    <a:lstStyle/>
                    <a:p>
                      <a:r>
                        <a:rPr sz="1100" b="0">
                          <a:solidFill>
                            <a:srgbClr val="1A1A1A"/>
                          </a:solidFill>
                          <a:latin typeface="Segoe UI"/>
                        </a:rPr>
                        <a:t>—</a:t>
                      </a:r>
                    </a:p>
                  </a:txBody>
                  <a:tcPr>
                    <a:solidFill>
                      <a:srgbClr val="EAF1F9"/>
                    </a:solidFill>
                  </a:tcPr>
                </a:tc>
                <a:tc>
                  <a:txBody>
                    <a:bodyPr/>
                    <a:lstStyle/>
                    <a:p>
                      <a:r>
                        <a:rPr sz="1100" b="0">
                          <a:solidFill>
                            <a:srgbClr val="1A1A1A"/>
                          </a:solidFill>
                          <a:latin typeface="Segoe UI"/>
                        </a:rPr>
                        <a:t>✓</a:t>
                      </a:r>
                    </a:p>
                  </a:txBody>
                  <a:tcPr>
                    <a:solidFill>
                      <a:srgbClr val="EAF1F9"/>
                    </a:solidFill>
                  </a:tcPr>
                </a:tc>
              </a:tr>
              <a:tr h="560070">
                <a:tc>
                  <a:txBody>
                    <a:bodyPr/>
                    <a:lstStyle/>
                    <a:p>
                      <a:r>
                        <a:rPr sz="1100" b="0">
                          <a:solidFill>
                            <a:srgbClr val="1A1A1A"/>
                          </a:solidFill>
                          <a:latin typeface="Segoe UI"/>
                        </a:rPr>
                        <a:t>Gate phê duyệt của con người trong workflow</a:t>
                      </a:r>
                    </a:p>
                  </a:txBody>
                  <a:tcPr>
                    <a:solidFill>
                      <a:srgbClr val="FFFFFF"/>
                    </a:solidFill>
                  </a:tcPr>
                </a:tc>
                <a:tc>
                  <a:txBody>
                    <a:bodyPr/>
                    <a:lstStyle/>
                    <a:p>
                      <a:r>
                        <a:rPr sz="1100" b="0">
                          <a:solidFill>
                            <a:srgbClr val="1A1A1A"/>
                          </a:solidFill>
                          <a:latin typeface="Segoe UI"/>
                        </a:rPr>
                        <a:t>✓</a:t>
                      </a:r>
                    </a:p>
                  </a:txBody>
                  <a:tcPr>
                    <a:solidFill>
                      <a:srgbClr val="FFFFFF"/>
                    </a:solidFill>
                  </a:tcPr>
                </a:tc>
                <a:tc>
                  <a:txBody>
                    <a:bodyPr/>
                    <a:lstStyle/>
                    <a:p>
                      <a:r>
                        <a:rPr sz="1100" b="0">
                          <a:solidFill>
                            <a:srgbClr val="1A1A1A"/>
                          </a:solidFill>
                          <a:latin typeface="Segoe UI"/>
                        </a:rPr>
                        <a:t>—</a:t>
                      </a:r>
                    </a:p>
                  </a:txBody>
                  <a:tcPr>
                    <a:solidFill>
                      <a:srgbClr val="FFFFFF"/>
                    </a:solidFill>
                  </a:tcPr>
                </a:tc>
                <a:tc>
                  <a:txBody>
                    <a:bodyPr/>
                    <a:lstStyle/>
                    <a:p>
                      <a:r>
                        <a:rPr sz="1100" b="0">
                          <a:solidFill>
                            <a:srgbClr val="1A1A1A"/>
                          </a:solidFill>
                          <a:latin typeface="Segoe UI"/>
                        </a:rPr>
                        <a:t>Hiếm</a:t>
                      </a:r>
                    </a:p>
                  </a:txBody>
                  <a:tcPr>
                    <a:solidFill>
                      <a:srgbClr val="FFFFFF"/>
                    </a:solidFill>
                  </a:tcPr>
                </a:tc>
                <a:tc>
                  <a:txBody>
                    <a:bodyPr/>
                    <a:lstStyle/>
                    <a:p>
                      <a:r>
                        <a:rPr sz="1100" b="0">
                          <a:solidFill>
                            <a:srgbClr val="1A1A1A"/>
                          </a:solidFill>
                          <a:latin typeface="Segoe UI"/>
                        </a:rPr>
                        <a:t>✓</a:t>
                      </a:r>
                    </a:p>
                  </a:txBody>
                  <a:tcPr>
                    <a:solidFill>
                      <a:srgbClr val="FFFFFF"/>
                    </a:solidFill>
                  </a:tcPr>
                </a:tc>
              </a:tr>
              <a:tr h="560070">
                <a:tc>
                  <a:txBody>
                    <a:bodyPr/>
                    <a:lstStyle/>
                    <a:p>
                      <a:r>
                        <a:rPr sz="1100" b="0">
                          <a:solidFill>
                            <a:srgbClr val="1A1A1A"/>
                          </a:solidFill>
                          <a:latin typeface="Segoe UI"/>
                        </a:rPr>
                        <a:t>Dashboard truy vết agent &amp; kiểm toán</a:t>
                      </a:r>
                    </a:p>
                  </a:txBody>
                  <a:tcPr>
                    <a:solidFill>
                      <a:srgbClr val="EAF1F9"/>
                    </a:solidFill>
                  </a:tcPr>
                </a:tc>
                <a:tc>
                  <a:txBody>
                    <a:bodyPr/>
                    <a:lstStyle/>
                    <a:p>
                      <a:r>
                        <a:rPr sz="1100" b="0">
                          <a:solidFill>
                            <a:srgbClr val="1A1A1A"/>
                          </a:solidFill>
                          <a:latin typeface="Segoe UI"/>
                        </a:rPr>
                        <a:t>—</a:t>
                      </a:r>
                    </a:p>
                  </a:txBody>
                  <a:tcPr>
                    <a:solidFill>
                      <a:srgbClr val="EAF1F9"/>
                    </a:solidFill>
                  </a:tcPr>
                </a:tc>
                <a:tc>
                  <a:txBody>
                    <a:bodyPr/>
                    <a:lstStyle/>
                    <a:p>
                      <a:r>
                        <a:rPr sz="1100" b="0">
                          <a:solidFill>
                            <a:srgbClr val="1A1A1A"/>
                          </a:solidFill>
                          <a:latin typeface="Segoe UI"/>
                        </a:rPr>
                        <a:t>—</a:t>
                      </a:r>
                    </a:p>
                  </a:txBody>
                  <a:tcPr>
                    <a:solidFill>
                      <a:srgbClr val="EAF1F9"/>
                    </a:solidFill>
                  </a:tcPr>
                </a:tc>
                <a:tc>
                  <a:txBody>
                    <a:bodyPr/>
                    <a:lstStyle/>
                    <a:p>
                      <a:r>
                        <a:rPr sz="1100" b="0">
                          <a:solidFill>
                            <a:srgbClr val="1A1A1A"/>
                          </a:solidFill>
                          <a:latin typeface="Segoe UI"/>
                        </a:rPr>
                        <a:t>Một phần</a:t>
                      </a:r>
                    </a:p>
                  </a:txBody>
                  <a:tcPr>
                    <a:solidFill>
                      <a:srgbClr val="EAF1F9"/>
                    </a:solidFill>
                  </a:tcPr>
                </a:tc>
                <a:tc>
                  <a:txBody>
                    <a:bodyPr/>
                    <a:lstStyle/>
                    <a:p>
                      <a:r>
                        <a:rPr sz="1100" b="0">
                          <a:solidFill>
                            <a:srgbClr val="1A1A1A"/>
                          </a:solidFill>
                          <a:latin typeface="Segoe UI"/>
                        </a:rPr>
                        <a:t>✓</a:t>
                      </a:r>
                    </a:p>
                  </a:txBody>
                  <a:tcPr>
                    <a:solidFill>
                      <a:srgbClr val="EAF1F9"/>
                    </a:solidFill>
                  </a:tcPr>
                </a:tc>
              </a:tr>
              <a:tr h="560070">
                <a:tc>
                  <a:txBody>
                    <a:bodyPr/>
                    <a:lstStyle/>
                    <a:p>
                      <a:r>
                        <a:rPr sz="1100" b="0">
                          <a:solidFill>
                            <a:srgbClr val="1A1A1A"/>
                          </a:solidFill>
                          <a:latin typeface="Segoe UI"/>
                        </a:rPr>
                        <a:t>Chống chỉ thị ẩn trong tài liệu (prompt injection)</a:t>
                      </a:r>
                    </a:p>
                  </a:txBody>
                  <a:tcPr>
                    <a:solidFill>
                      <a:srgbClr val="FFFFFF"/>
                    </a:solidFill>
                  </a:tcPr>
                </a:tc>
                <a:tc>
                  <a:txBody>
                    <a:bodyPr/>
                    <a:lstStyle/>
                    <a:p>
                      <a:r>
                        <a:rPr sz="1100" b="0">
                          <a:solidFill>
                            <a:srgbClr val="1A1A1A"/>
                          </a:solidFill>
                          <a:latin typeface="Segoe UI"/>
                        </a:rPr>
                        <a:t>N/A</a:t>
                      </a:r>
                    </a:p>
                  </a:txBody>
                  <a:tcPr>
                    <a:solidFill>
                      <a:srgbClr val="FFFFFF"/>
                    </a:solidFill>
                  </a:tcPr>
                </a:tc>
                <a:tc>
                  <a:txBody>
                    <a:bodyPr/>
                    <a:lstStyle/>
                    <a:p>
                      <a:r>
                        <a:rPr sz="1100" b="0">
                          <a:solidFill>
                            <a:srgbClr val="1A1A1A"/>
                          </a:solidFill>
                          <a:latin typeface="Segoe UI"/>
                        </a:rPr>
                        <a:t>Yếu</a:t>
                      </a:r>
                    </a:p>
                  </a:txBody>
                  <a:tcPr>
                    <a:solidFill>
                      <a:srgbClr val="FFFFFF"/>
                    </a:solidFill>
                  </a:tcPr>
                </a:tc>
                <a:tc>
                  <a:txBody>
                    <a:bodyPr/>
                    <a:lstStyle/>
                    <a:p>
                      <a:r>
                        <a:rPr sz="1100" b="0">
                          <a:solidFill>
                            <a:srgbClr val="1A1A1A"/>
                          </a:solidFill>
                          <a:latin typeface="Segoe UI"/>
                        </a:rPr>
                        <a:t>Yếu</a:t>
                      </a:r>
                    </a:p>
                  </a:txBody>
                  <a:tcPr>
                    <a:solidFill>
                      <a:srgbClr val="FFFFFF"/>
                    </a:solidFill>
                  </a:tcPr>
                </a:tc>
                <a:tc>
                  <a:txBody>
                    <a:bodyPr/>
                    <a:lstStyle/>
                    <a:p>
                      <a:r>
                        <a:rPr sz="1100" b="0">
                          <a:solidFill>
                            <a:srgbClr val="1A1A1A"/>
                          </a:solidFill>
                          <a:latin typeface="Segoe UI"/>
                        </a:rPr>
                        <a:t>Thiết kế sẵn</a:t>
                      </a:r>
                    </a:p>
                  </a:txBody>
                  <a:tcPr>
                    <a:solidFill>
                      <a:srgbClr val="FFFFFF"/>
                    </a:solidFill>
                  </a:tcPr>
                </a:tc>
              </a:tr>
            </a:tbl>
          </a:graphicData>
        </a:graphic>
      </p:graphicFrame>
      <p:sp>
        <p:nvSpPr>
          <p:cNvPr id="4"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11/18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Đề bài yêu cầu — chúng tôi xây đúng, rồi đi xa hơn một tầng tin cậy.</a:t>
            </a:r>
          </a:p>
        </p:txBody>
      </p:sp>
      <p:graphicFrame>
        <p:nvGraphicFramePr>
          <p:cNvPr id="3" name="criteria_table"/>
          <p:cNvGraphicFramePr>
            <a:graphicFrameLocks noGrp="1"/>
          </p:cNvGraphicFramePr>
          <p:nvPr/>
        </p:nvGraphicFramePr>
        <p:xfrm>
          <a:off x="457200" y="1325880"/>
          <a:ext cx="11247120" cy="3520440"/>
        </p:xfrm>
        <a:graphic>
          <a:graphicData uri="http://schemas.openxmlformats.org/drawingml/2006/table">
            <a:tbl>
              <a:tblPr firstRow="1" bandRow="1">
                <a:tableStyleId>{5C22544A-7EE6-4342-B048-85BDC9FD1C3A}</a:tableStyleId>
              </a:tblPr>
              <a:tblGrid>
                <a:gridCol w="5623560"/>
                <a:gridCol w="5623560"/>
              </a:tblGrid>
              <a:tr h="502920">
                <a:tc>
                  <a:txBody>
                    <a:bodyPr/>
                    <a:lstStyle/>
                    <a:p>
                      <a:r>
                        <a:rPr sz="1100" b="1">
                          <a:solidFill>
                            <a:srgbClr val="FFFFFF"/>
                          </a:solidFill>
                          <a:latin typeface="Segoe UI"/>
                        </a:rPr>
                        <a:t>Đề bài yêu cầu</a:t>
                      </a:r>
                    </a:p>
                  </a:txBody>
                  <a:tcPr>
                    <a:solidFill>
                      <a:srgbClr val="0B2D5B"/>
                    </a:solidFill>
                  </a:tcPr>
                </a:tc>
                <a:tc>
                  <a:txBody>
                    <a:bodyPr/>
                    <a:lstStyle/>
                    <a:p>
                      <a:r>
                        <a:rPr sz="1100" b="1">
                          <a:solidFill>
                            <a:srgbClr val="FFFFFF"/>
                          </a:solidFill>
                          <a:latin typeface="Segoe UI"/>
                        </a:rPr>
                        <a:t>Chúng tôi có trong demo</a:t>
                      </a:r>
                    </a:p>
                  </a:txBody>
                  <a:tcPr>
                    <a:solidFill>
                      <a:srgbClr val="0B2D5B"/>
                    </a:solidFill>
                  </a:tcPr>
                </a:tc>
              </a:tr>
              <a:tr h="502920">
                <a:tc>
                  <a:txBody>
                    <a:bodyPr/>
                    <a:lstStyle/>
                    <a:p>
                      <a:r>
                        <a:rPr sz="1100" b="0">
                          <a:solidFill>
                            <a:srgbClr val="1A1A1A"/>
                          </a:solidFill>
                          <a:latin typeface="Segoe UI"/>
                        </a:rPr>
                        <a:t>≥2–3 chuyên gia số (Credit, Legal/Compliance, Operations)</a:t>
                      </a:r>
                    </a:p>
                  </a:txBody>
                  <a:tcPr>
                    <a:solidFill>
                      <a:srgbClr val="FFFFFF"/>
                    </a:solidFill>
                  </a:tcPr>
                </a:tc>
                <a:tc>
                  <a:txBody>
                    <a:bodyPr/>
                    <a:lstStyle/>
                    <a:p>
                      <a:r>
                        <a:rPr sz="1100" b="0">
                          <a:solidFill>
                            <a:srgbClr val="1A1A1A"/>
                          </a:solidFill>
                          <a:latin typeface="Segoe UI"/>
                        </a:rPr>
                        <a:t>6 vai trò chuyên trách — bao gồm đúng 3 vai trò đề bài nêu</a:t>
                      </a:r>
                    </a:p>
                  </a:txBody>
                  <a:tcPr>
                    <a:solidFill>
                      <a:srgbClr val="FFFFFF"/>
                    </a:solidFill>
                  </a:tcPr>
                </a:tc>
              </a:tr>
              <a:tr h="502920">
                <a:tc>
                  <a:txBody>
                    <a:bodyPr/>
                    <a:lstStyle/>
                    <a:p>
                      <a:r>
                        <a:rPr sz="1100" b="0">
                          <a:solidFill>
                            <a:srgbClr val="1A1A1A"/>
                          </a:solidFill>
                          <a:latin typeface="Segoe UI"/>
                        </a:rPr>
                        <a:t>Điều phối planner–executor</a:t>
                      </a:r>
                    </a:p>
                  </a:txBody>
                  <a:tcPr>
                    <a:solidFill>
                      <a:srgbClr val="EAF1F9"/>
                    </a:solidFill>
                  </a:tcPr>
                </a:tc>
                <a:tc>
                  <a:txBody>
                    <a:bodyPr/>
                    <a:lstStyle/>
                    <a:p>
                      <a:r>
                        <a:rPr sz="1100" b="0">
                          <a:solidFill>
                            <a:srgbClr val="1A1A1A"/>
                          </a:solidFill>
                          <a:latin typeface="Segoe UI"/>
                        </a:rPr>
                        <a:t>Case Orchestrator phân rã &amp; định tuyến; executor có giới hạn</a:t>
                      </a:r>
                    </a:p>
                  </a:txBody>
                  <a:tcPr>
                    <a:solidFill>
                      <a:srgbClr val="EAF1F9"/>
                    </a:solidFill>
                  </a:tcPr>
                </a:tc>
              </a:tr>
              <a:tr h="502920">
                <a:tc>
                  <a:txBody>
                    <a:bodyPr/>
                    <a:lstStyle/>
                    <a:p>
                      <a:r>
                        <a:rPr sz="1100" b="0">
                          <a:solidFill>
                            <a:srgbClr val="1A1A1A"/>
                          </a:solidFill>
                          <a:latin typeface="Segoe UI"/>
                        </a:rPr>
                        <a:t>Dùng công cụ thật (API, dữ liệu, hành động)</a:t>
                      </a:r>
                    </a:p>
                  </a:txBody>
                  <a:tcPr>
                    <a:solidFill>
                      <a:srgbClr val="FFFFFF"/>
                    </a:solidFill>
                  </a:tcPr>
                </a:tc>
                <a:tc>
                  <a:txBody>
                    <a:bodyPr/>
                    <a:lstStyle/>
                    <a:p>
                      <a:r>
                        <a:rPr sz="1100" b="0">
                          <a:solidFill>
                            <a:srgbClr val="1A1A1A"/>
                          </a:solidFill>
                          <a:latin typeface="Segoe UI"/>
                        </a:rPr>
                        <a:t>KIE / trích xuất bảng, máy tính xác định, tra cứu mô phỏng, tạo tờ trình</a:t>
                      </a:r>
                    </a:p>
                  </a:txBody>
                  <a:tcPr>
                    <a:solidFill>
                      <a:srgbClr val="FFFFFF"/>
                    </a:solidFill>
                  </a:tcPr>
                </a:tc>
              </a:tr>
              <a:tr h="502920">
                <a:tc>
                  <a:txBody>
                    <a:bodyPr/>
                    <a:lstStyle/>
                    <a:p>
                      <a:r>
                        <a:rPr sz="1100" b="0">
                          <a:solidFill>
                            <a:srgbClr val="1A1A1A"/>
                          </a:solidFill>
                          <a:latin typeface="Segoe UI"/>
                        </a:rPr>
                        <a:t>RAG chuyên ngành cho từng agent</a:t>
                      </a:r>
                    </a:p>
                  </a:txBody>
                  <a:tcPr>
                    <a:solidFill>
                      <a:srgbClr val="EAF1F9"/>
                    </a:solidFill>
                  </a:tcPr>
                </a:tc>
                <a:tc>
                  <a:txBody>
                    <a:bodyPr/>
                    <a:lstStyle/>
                    <a:p>
                      <a:r>
                        <a:rPr sz="1100" b="0">
                          <a:solidFill>
                            <a:srgbClr val="1A1A1A"/>
                          </a:solidFill>
                          <a:latin typeface="Segoe UI"/>
                        </a:rPr>
                        <a:t>RAG bằng chứng hồ sơ + RAG chính sách kèm trích dẫn chính xác</a:t>
                      </a:r>
                    </a:p>
                  </a:txBody>
                  <a:tcPr>
                    <a:solidFill>
                      <a:srgbClr val="EAF1F9"/>
                    </a:solidFill>
                  </a:tcPr>
                </a:tc>
              </a:tr>
              <a:tr h="502920">
                <a:tc>
                  <a:txBody>
                    <a:bodyPr/>
                    <a:lstStyle/>
                    <a:p>
                      <a:r>
                        <a:rPr sz="1100" b="0">
                          <a:solidFill>
                            <a:srgbClr val="1A1A1A"/>
                          </a:solidFill>
                          <a:latin typeface="Segoe UI"/>
                        </a:rPr>
                        <a:t>Dashboard truy vết agent, trạng thái, quyết định</a:t>
                      </a:r>
                    </a:p>
                  </a:txBody>
                  <a:tcPr>
                    <a:solidFill>
                      <a:srgbClr val="FFFFFF"/>
                    </a:solidFill>
                  </a:tcPr>
                </a:tc>
                <a:tc>
                  <a:txBody>
                    <a:bodyPr/>
                    <a:lstStyle/>
                    <a:p>
                      <a:r>
                        <a:rPr sz="1100" b="0">
                          <a:solidFill>
                            <a:srgbClr val="1A1A1A"/>
                          </a:solidFill>
                          <a:latin typeface="Segoe UI"/>
                        </a:rPr>
                        <a:t>Giao diện truy vết / kiểm toán của sản phẩm</a:t>
                      </a:r>
                    </a:p>
                  </a:txBody>
                  <a:tcPr>
                    <a:solidFill>
                      <a:srgbClr val="FFFFFF"/>
                    </a:solidFill>
                  </a:tcPr>
                </a:tc>
              </a:tr>
              <a:tr h="502920">
                <a:tc>
                  <a:txBody>
                    <a:bodyPr/>
                    <a:lstStyle/>
                    <a:p>
                      <a:r>
                        <a:rPr sz="1100" b="0">
                          <a:solidFill>
                            <a:srgbClr val="1A1A1A"/>
                          </a:solidFill>
                          <a:latin typeface="Segoe UI"/>
                        </a:rPr>
                        <a:t>So sánh với chatbot đơn agent</a:t>
                      </a:r>
                    </a:p>
                  </a:txBody>
                  <a:tcPr>
                    <a:solidFill>
                      <a:srgbClr val="EAF1F9"/>
                    </a:solidFill>
                  </a:tcPr>
                </a:tc>
                <a:tc>
                  <a:txBody>
                    <a:bodyPr/>
                    <a:lstStyle/>
                    <a:p>
                      <a:r>
                        <a:rPr sz="1100" b="0">
                          <a:solidFill>
                            <a:srgbClr val="1A1A1A"/>
                          </a:solidFill>
                          <a:latin typeface="Segoe UI"/>
                        </a:rPr>
                        <a:t>Đo lường đối đầu — xem slide Kiểm chứng</a:t>
                      </a:r>
                    </a:p>
                  </a:txBody>
                  <a:tcPr>
                    <a:solidFill>
                      <a:srgbClr val="EAF1F9"/>
                    </a:solidFill>
                  </a:tcPr>
                </a:tc>
              </a:tr>
            </a:tbl>
          </a:graphicData>
        </a:graphic>
      </p:graphicFrame>
      <p:sp>
        <p:nvSpPr>
          <p:cNvPr id="4" name="benefit"/>
          <p:cNvSpPr/>
          <p:nvPr/>
        </p:nvSpPr>
        <p:spPr>
          <a:xfrm>
            <a:off x="457200" y="5120640"/>
            <a:ext cx="2743200" cy="91440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GenAI: từ trả lời → làm việc</a:t>
            </a:r>
          </a:p>
        </p:txBody>
      </p:sp>
      <p:sp>
        <p:nvSpPr>
          <p:cNvPr id="5" name="benefit"/>
          <p:cNvSpPr/>
          <p:nvPr/>
        </p:nvSpPr>
        <p:spPr>
          <a:xfrm>
            <a:off x="3337560" y="5120640"/>
            <a:ext cx="2743200" cy="91440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Một hệ thống đại diện nhiều phòng ban</a:t>
            </a:r>
          </a:p>
        </p:txBody>
      </p:sp>
      <p:sp>
        <p:nvSpPr>
          <p:cNvPr id="6" name="benefit"/>
          <p:cNvSpPr/>
          <p:nvPr/>
        </p:nvSpPr>
        <p:spPr>
          <a:xfrm>
            <a:off x="6217920" y="5120640"/>
            <a:ext cx="2743200" cy="91440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Giảm phụ thuộc chuyên gia cá nhân — vẫn giữ kiểm soát</a:t>
            </a:r>
          </a:p>
        </p:txBody>
      </p:sp>
      <p:sp>
        <p:nvSpPr>
          <p:cNvPr id="7" name="benefit"/>
          <p:cNvSpPr/>
          <p:nvPr/>
        </p:nvSpPr>
        <p:spPr>
          <a:xfrm>
            <a:off x="9098280" y="5120640"/>
            <a:ext cx="2743200" cy="91440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Nền tảng tự động hoá quy trình đầu-cuối</a:t>
            </a:r>
          </a:p>
        </p:txBody>
      </p:sp>
      <p:sp>
        <p:nvSpPr>
          <p:cNvPr id="8"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12/18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Chúng tôi không chỉ demo. Chúng tôi đo.</a:t>
            </a:r>
          </a:p>
        </p:txBody>
      </p:sp>
      <p:sp>
        <p:nvSpPr>
          <p:cNvPr id="3" name="bullets"/>
          <p:cNvSpPr txBox="1"/>
          <p:nvPr/>
        </p:nvSpPr>
        <p:spPr>
          <a:xfrm>
            <a:off x="457200" y="1188720"/>
            <a:ext cx="11247120" cy="100584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[N] hồ sơ SME tổng hợp — 6 kịch bản: đủ / thiếu tài liệu / mâu thuẫn / ngoại lệ chính sách / scan kém / cần xử lý tay</a:t>
            </a:r>
          </a:p>
          <a:p>
            <a:pPr algn="l">
              <a:lnSpc>
                <a:spcPct val="112000"/>
              </a:lnSpc>
              <a:spcAft>
                <a:spcPts val="500"/>
              </a:spcAft>
            </a:pPr>
            <a:r>
              <a:rPr sz="1100" b="0" i="0">
                <a:solidFill>
                  <a:srgbClr val="445063"/>
                </a:solidFill>
                <a:latin typeface="Segoe UI"/>
              </a:rPr>
              <a:t>•  Ground-truth gắn nhãn trước; đối đầu chatbot RAG đơn dùng CÙNG mô hình nền</a:t>
            </a:r>
          </a:p>
        </p:txBody>
      </p:sp>
      <p:graphicFrame>
        <p:nvGraphicFramePr>
          <p:cNvPr id="4" name="metric_table"/>
          <p:cNvGraphicFramePr>
            <a:graphicFrameLocks noGrp="1"/>
          </p:cNvGraphicFramePr>
          <p:nvPr/>
        </p:nvGraphicFramePr>
        <p:xfrm>
          <a:off x="457200" y="2286000"/>
          <a:ext cx="11247120" cy="3108960"/>
        </p:xfrm>
        <a:graphic>
          <a:graphicData uri="http://schemas.openxmlformats.org/drawingml/2006/table">
            <a:tbl>
              <a:tblPr firstRow="1" bandRow="1">
                <a:tableStyleId>{5C22544A-7EE6-4342-B048-85BDC9FD1C3A}</a:tableStyleId>
              </a:tblPr>
              <a:tblGrid>
                <a:gridCol w="3749040"/>
                <a:gridCol w="3749040"/>
                <a:gridCol w="3749040"/>
              </a:tblGrid>
              <a:tr h="444137">
                <a:tc>
                  <a:txBody>
                    <a:bodyPr/>
                    <a:lstStyle/>
                    <a:p>
                      <a:r>
                        <a:rPr sz="1100" b="1">
                          <a:solidFill>
                            <a:srgbClr val="FFFFFF"/>
                          </a:solidFill>
                          <a:latin typeface="Segoe UI"/>
                        </a:rPr>
                        <a:t>Chỉ số</a:t>
                      </a:r>
                    </a:p>
                  </a:txBody>
                  <a:tcPr>
                    <a:solidFill>
                      <a:srgbClr val="0B2D5B"/>
                    </a:solidFill>
                  </a:tcPr>
                </a:tc>
                <a:tc>
                  <a:txBody>
                    <a:bodyPr/>
                    <a:lstStyle/>
                    <a:p>
                      <a:r>
                        <a:rPr sz="1100" b="1">
                          <a:solidFill>
                            <a:srgbClr val="FFFFFF"/>
                          </a:solidFill>
                          <a:latin typeface="Segoe UI"/>
                        </a:rPr>
                        <a:t>Kết quả</a:t>
                      </a:r>
                    </a:p>
                  </a:txBody>
                  <a:tcPr>
                    <a:solidFill>
                      <a:srgbClr val="0B2D5B"/>
                    </a:solidFill>
                  </a:tcPr>
                </a:tc>
                <a:tc>
                  <a:txBody>
                    <a:bodyPr/>
                    <a:lstStyle/>
                    <a:p>
                      <a:r>
                        <a:rPr sz="1100" b="1">
                          <a:solidFill>
                            <a:srgbClr val="FFFFFF"/>
                          </a:solidFill>
                          <a:latin typeface="Segoe UI"/>
                        </a:rPr>
                        <a:t>Ghi chú</a:t>
                      </a:r>
                    </a:p>
                  </a:txBody>
                  <a:tcPr>
                    <a:solidFill>
                      <a:srgbClr val="0B2D5B"/>
                    </a:solidFill>
                  </a:tcPr>
                </a:tc>
              </a:tr>
              <a:tr h="444137">
                <a:tc>
                  <a:txBody>
                    <a:bodyPr/>
                    <a:lstStyle/>
                    <a:p>
                      <a:r>
                        <a:rPr sz="1100" b="0">
                          <a:solidFill>
                            <a:srgbClr val="1A1A1A"/>
                          </a:solidFill>
                          <a:latin typeface="Segoe UI"/>
                        </a:rPr>
                        <a:t>Độ phủ trích dẫn (kết luận có nguồn đúng)</a:t>
                      </a:r>
                    </a:p>
                  </a:txBody>
                  <a:tcPr>
                    <a:solidFill>
                      <a:srgbClr val="FFFFFF"/>
                    </a:solidFill>
                  </a:tcPr>
                </a:tc>
                <a:tc>
                  <a:txBody>
                    <a:bodyPr/>
                    <a:lstStyle/>
                    <a:p>
                      <a:r>
                        <a:rPr sz="1100" b="0">
                          <a:solidFill>
                            <a:srgbClr val="1A1A1A"/>
                          </a:solidFill>
                          <a:latin typeface="Segoe UI"/>
                        </a:rPr>
                        <a:t>[X%]</a:t>
                      </a:r>
                    </a:p>
                  </a:txBody>
                  <a:tcPr>
                    <a:solidFill>
                      <a:srgbClr val="FFFFFF"/>
                    </a:solidFill>
                  </a:tcPr>
                </a:tc>
                <a:tc>
                  <a:txBody>
                    <a:bodyPr/>
                    <a:lstStyle/>
                    <a:p>
                      <a:r>
                        <a:rPr sz="1100" b="0">
                          <a:solidFill>
                            <a:srgbClr val="1A1A1A"/>
                          </a:solidFill>
                          <a:latin typeface="Segoe UI"/>
                        </a:rPr>
                        <a:t>so với chatbot [Y%]</a:t>
                      </a:r>
                    </a:p>
                  </a:txBody>
                  <a:tcPr>
                    <a:solidFill>
                      <a:srgbClr val="FFFFFF"/>
                    </a:solidFill>
                  </a:tcPr>
                </a:tc>
              </a:tr>
              <a:tr h="444137">
                <a:tc>
                  <a:txBody>
                    <a:bodyPr/>
                    <a:lstStyle/>
                    <a:p>
                      <a:r>
                        <a:rPr sz="1100" b="0">
                          <a:solidFill>
                            <a:srgbClr val="1A1A1A"/>
                          </a:solidFill>
                          <a:latin typeface="Segoe UI"/>
                        </a:rPr>
                        <a:t>Phát hiện khoảng trống (recall / precision)</a:t>
                      </a:r>
                    </a:p>
                  </a:txBody>
                  <a:tcPr>
                    <a:solidFill>
                      <a:srgbClr val="EAF1F9"/>
                    </a:solidFill>
                  </a:tcPr>
                </a:tc>
                <a:tc>
                  <a:txBody>
                    <a:bodyPr/>
                    <a:lstStyle/>
                    <a:p>
                      <a:r>
                        <a:rPr sz="1100" b="0">
                          <a:solidFill>
                            <a:srgbClr val="1A1A1A"/>
                          </a:solidFill>
                          <a:latin typeface="Segoe UI"/>
                        </a:rPr>
                        <a:t>[X%]</a:t>
                      </a:r>
                    </a:p>
                  </a:txBody>
                  <a:tcPr>
                    <a:solidFill>
                      <a:srgbClr val="EAF1F9"/>
                    </a:solidFill>
                  </a:tcPr>
                </a:tc>
                <a:tc>
                  <a:txBody>
                    <a:bodyPr/>
                    <a:lstStyle/>
                    <a:p>
                      <a:r>
                        <a:rPr sz="1100" b="0">
                          <a:solidFill>
                            <a:srgbClr val="1A1A1A"/>
                          </a:solidFill>
                          <a:latin typeface="Segoe UI"/>
                        </a:rPr>
                        <a:t/>
                      </a:r>
                    </a:p>
                  </a:txBody>
                  <a:tcPr>
                    <a:solidFill>
                      <a:srgbClr val="EAF1F9"/>
                    </a:solidFill>
                  </a:tcPr>
                </a:tc>
              </a:tr>
              <a:tr h="444137">
                <a:tc>
                  <a:txBody>
                    <a:bodyPr/>
                    <a:lstStyle/>
                    <a:p>
                      <a:r>
                        <a:rPr sz="1100" b="0">
                          <a:solidFill>
                            <a:srgbClr val="1A1A1A"/>
                          </a:solidFill>
                          <a:latin typeface="Segoe UI"/>
                        </a:rPr>
                        <a:t>Tính toán qua công cụ xác định</a:t>
                      </a:r>
                    </a:p>
                  </a:txBody>
                  <a:tcPr>
                    <a:solidFill>
                      <a:srgbClr val="FFFFFF"/>
                    </a:solidFill>
                  </a:tcPr>
                </a:tc>
                <a:tc>
                  <a:txBody>
                    <a:bodyPr/>
                    <a:lstStyle/>
                    <a:p>
                      <a:r>
                        <a:rPr sz="1100" b="0">
                          <a:solidFill>
                            <a:srgbClr val="1A1A1A"/>
                          </a:solidFill>
                          <a:latin typeface="Segoe UI"/>
                        </a:rPr>
                        <a:t>mục tiêu 100%</a:t>
                      </a:r>
                    </a:p>
                  </a:txBody>
                  <a:tcPr>
                    <a:solidFill>
                      <a:srgbClr val="FFFFFF"/>
                    </a:solidFill>
                  </a:tcPr>
                </a:tc>
                <a:tc>
                  <a:txBody>
                    <a:bodyPr/>
                    <a:lstStyle/>
                    <a:p>
                      <a:r>
                        <a:rPr sz="1100" b="0">
                          <a:solidFill>
                            <a:srgbClr val="1A1A1A"/>
                          </a:solidFill>
                          <a:latin typeface="Segoe UI"/>
                        </a:rPr>
                        <a:t/>
                      </a:r>
                    </a:p>
                  </a:txBody>
                  <a:tcPr>
                    <a:solidFill>
                      <a:srgbClr val="FFFFFF"/>
                    </a:solidFill>
                  </a:tcPr>
                </a:tc>
              </a:tr>
              <a:tr h="444137">
                <a:tc>
                  <a:txBody>
                    <a:bodyPr/>
                    <a:lstStyle/>
                    <a:p>
                      <a:r>
                        <a:rPr sz="1100" b="0">
                          <a:solidFill>
                            <a:srgbClr val="1A1A1A"/>
                          </a:solidFill>
                          <a:latin typeface="Segoe UI"/>
                        </a:rPr>
                        <a:t>Tỷ lệ khẳng định thiếu nguồn</a:t>
                      </a:r>
                    </a:p>
                  </a:txBody>
                  <a:tcPr>
                    <a:solidFill>
                      <a:srgbClr val="EAF1F9"/>
                    </a:solidFill>
                  </a:tcPr>
                </a:tc>
                <a:tc>
                  <a:txBody>
                    <a:bodyPr/>
                    <a:lstStyle/>
                    <a:p>
                      <a:r>
                        <a:rPr sz="1100" b="0">
                          <a:solidFill>
                            <a:srgbClr val="1A1A1A"/>
                          </a:solidFill>
                          <a:latin typeface="Segoe UI"/>
                        </a:rPr>
                        <a:t>[X%]</a:t>
                      </a:r>
                    </a:p>
                  </a:txBody>
                  <a:tcPr>
                    <a:solidFill>
                      <a:srgbClr val="EAF1F9"/>
                    </a:solidFill>
                  </a:tcPr>
                </a:tc>
                <a:tc>
                  <a:txBody>
                    <a:bodyPr/>
                    <a:lstStyle/>
                    <a:p>
                      <a:r>
                        <a:rPr sz="1100" b="0">
                          <a:solidFill>
                            <a:srgbClr val="1A1A1A"/>
                          </a:solidFill>
                          <a:latin typeface="Segoe UI"/>
                        </a:rPr>
                        <a:t>so với chatbot [Y%]</a:t>
                      </a:r>
                    </a:p>
                  </a:txBody>
                  <a:tcPr>
                    <a:solidFill>
                      <a:srgbClr val="EAF1F9"/>
                    </a:solidFill>
                  </a:tcPr>
                </a:tc>
              </a:tr>
              <a:tr h="444137">
                <a:tc>
                  <a:txBody>
                    <a:bodyPr/>
                    <a:lstStyle/>
                    <a:p>
                      <a:r>
                        <a:rPr sz="1100" b="0">
                          <a:solidFill>
                            <a:srgbClr val="1A1A1A"/>
                          </a:solidFill>
                          <a:latin typeface="Segoe UI"/>
                        </a:rPr>
                        <a:t>Tuân thủ gate phê duyệt của con người</a:t>
                      </a:r>
                    </a:p>
                  </a:txBody>
                  <a:tcPr>
                    <a:solidFill>
                      <a:srgbClr val="FFFFFF"/>
                    </a:solidFill>
                  </a:tcPr>
                </a:tc>
                <a:tc>
                  <a:txBody>
                    <a:bodyPr/>
                    <a:lstStyle/>
                    <a:p>
                      <a:r>
                        <a:rPr sz="1100" b="0">
                          <a:solidFill>
                            <a:srgbClr val="1A1A1A"/>
                          </a:solidFill>
                          <a:latin typeface="Segoe UI"/>
                        </a:rPr>
                        <a:t>0 lần vượt</a:t>
                      </a:r>
                    </a:p>
                  </a:txBody>
                  <a:tcPr>
                    <a:solidFill>
                      <a:srgbClr val="FFFFFF"/>
                    </a:solidFill>
                  </a:tcPr>
                </a:tc>
                <a:tc>
                  <a:txBody>
                    <a:bodyPr/>
                    <a:lstStyle/>
                    <a:p>
                      <a:r>
                        <a:rPr sz="1100" b="0">
                          <a:solidFill>
                            <a:srgbClr val="1A1A1A"/>
                          </a:solidFill>
                          <a:latin typeface="Segoe UI"/>
                        </a:rPr>
                        <a:t>trên mọi lần chạy</a:t>
                      </a:r>
                    </a:p>
                  </a:txBody>
                  <a:tcPr>
                    <a:solidFill>
                      <a:srgbClr val="FFFFFF"/>
                    </a:solidFill>
                  </a:tcPr>
                </a:tc>
              </a:tr>
              <a:tr h="444138">
                <a:tc>
                  <a:txBody>
                    <a:bodyPr/>
                    <a:lstStyle/>
                    <a:p>
                      <a:r>
                        <a:rPr sz="1100" b="0">
                          <a:solidFill>
                            <a:srgbClr val="1A1A1A"/>
                          </a:solidFill>
                          <a:latin typeface="Segoe UI"/>
                        </a:rPr>
                        <a:t>Thời gian chuẩn bị hồ sơ đầu-cuối</a:t>
                      </a:r>
                    </a:p>
                  </a:txBody>
                  <a:tcPr>
                    <a:solidFill>
                      <a:srgbClr val="EAF1F9"/>
                    </a:solidFill>
                  </a:tcPr>
                </a:tc>
                <a:tc>
                  <a:txBody>
                    <a:bodyPr/>
                    <a:lstStyle/>
                    <a:p>
                      <a:r>
                        <a:rPr sz="1100" b="0">
                          <a:solidFill>
                            <a:srgbClr val="1A1A1A"/>
                          </a:solidFill>
                          <a:latin typeface="Segoe UI"/>
                        </a:rPr>
                        <a:t>[X giờ] → [Y phút]</a:t>
                      </a:r>
                    </a:p>
                  </a:txBody>
                  <a:tcPr>
                    <a:solidFill>
                      <a:srgbClr val="EAF1F9"/>
                    </a:solidFill>
                  </a:tcPr>
                </a:tc>
                <a:tc>
                  <a:txBody>
                    <a:bodyPr/>
                    <a:lstStyle/>
                    <a:p>
                      <a:r>
                        <a:rPr sz="1100" b="0">
                          <a:solidFill>
                            <a:srgbClr val="1A1A1A"/>
                          </a:solidFill>
                          <a:latin typeface="Segoe UI"/>
                        </a:rPr>
                        <a:t>so với thủ công</a:t>
                      </a:r>
                    </a:p>
                  </a:txBody>
                  <a:tcPr>
                    <a:solidFill>
                      <a:srgbClr val="EAF1F9"/>
                    </a:solidFill>
                  </a:tcPr>
                </a:tc>
              </a:tr>
            </a:tbl>
          </a:graphicData>
        </a:graphic>
      </p:graphicFrame>
      <p:sp>
        <p:nvSpPr>
          <p:cNvPr id="5"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Câu hỏi không phải là demo có đẹp không — mà là hệ thống có đáng tin để đứng cạnh một quyết định tín dụng không.</a:t>
            </a:r>
          </a:p>
        </p:txBody>
      </p:sp>
      <p:sp>
        <p:nvSpPr>
          <p:cNvPr id="6"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13/18</a:t>
            </a:r>
          </a:p>
          <a:p>
            <a:pPr algn="l"/>
            <a:r>
              <a:rPr sz="700" b="0" i="0">
                <a:solidFill>
                  <a:srgbClr val="8A8A8A"/>
                </a:solidFill>
                <a:latin typeface="Segoe UI"/>
              </a:rPr>
              <a:t>Toàn bộ dữ liệu khách hàng, chính sách, tài liệu và phản hồi hệ thống ngân hàng trong dự án là dữ liệu tổng hợp, được tạo riêng cho mục đích trình diễn.  (All customer data, policies, documents, and banking-system responses in this project are synthetic and created solely for demonstration.)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Nghiệp vụ mới — cùng một bộ máy bằng chứng.</a:t>
            </a:r>
          </a:p>
        </p:txBody>
      </p:sp>
      <p:sp>
        <p:nvSpPr>
          <p:cNvPr id="3" name="axis_box"/>
          <p:cNvSpPr/>
          <p:nvPr/>
        </p:nvSpPr>
        <p:spPr>
          <a:xfrm>
            <a:off x="457200" y="1371600"/>
            <a:ext cx="3749039" cy="274320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Sâu hơn trong vòng đời (kế hoạch)</a:t>
            </a:r>
          </a:p>
          <a:p>
            <a:pPr algn="ctr"/>
            <a:r>
              <a:rPr sz="1100" b="0" i="0">
                <a:solidFill>
                  <a:srgbClr val="FFFFFF"/>
                </a:solidFill>
                <a:latin typeface="Segoe UI"/>
              </a:rPr>
              <a:t/>
            </a:r>
          </a:p>
          <a:p>
            <a:pPr algn="ctr"/>
            <a:r>
              <a:rPr sz="1100" b="0" i="0">
                <a:solidFill>
                  <a:srgbClr val="FFFFFF"/>
                </a:solidFill>
                <a:latin typeface="Segoe UI"/>
              </a:rPr>
              <a:t>Giai đoạn 7–14: thông báo, hợp đồng, TSBĐ, điều kiện giải ngân, agent giám sát &amp; thu hồi</a:t>
            </a:r>
          </a:p>
        </p:txBody>
      </p:sp>
      <p:sp>
        <p:nvSpPr>
          <p:cNvPr id="4" name="axis_box"/>
          <p:cNvSpPr/>
          <p:nvPr/>
        </p:nvSpPr>
        <p:spPr>
          <a:xfrm>
            <a:off x="4389120" y="1371600"/>
            <a:ext cx="3749039" cy="274320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Nhiều sản phẩm tín dụng hơn (kế hoạch)</a:t>
            </a:r>
          </a:p>
          <a:p>
            <a:pPr algn="ctr"/>
            <a:r>
              <a:rPr sz="1100" b="0" i="0">
                <a:solidFill>
                  <a:srgbClr val="FFFFFF"/>
                </a:solidFill>
                <a:latin typeface="Segoe UI"/>
              </a:rPr>
              <a:t/>
            </a:r>
          </a:p>
          <a:p>
            <a:pPr algn="ctr"/>
            <a:r>
              <a:rPr sz="1100" b="0" i="0">
                <a:solidFill>
                  <a:srgbClr val="FFFFFF"/>
                </a:solidFill>
                <a:latin typeface="Segoe UI"/>
              </a:rPr>
              <a:t>Vay trung dài hạn, bảo lãnh, tài trợ thương mại / LC, bán lẻ</a:t>
            </a:r>
          </a:p>
        </p:txBody>
      </p:sp>
      <p:sp>
        <p:nvSpPr>
          <p:cNvPr id="5" name="axis_box"/>
          <p:cNvSpPr/>
          <p:nvPr/>
        </p:nvSpPr>
        <p:spPr>
          <a:xfrm>
            <a:off x="8321040" y="1371600"/>
            <a:ext cx="3749039" cy="274320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Nghiệp vụ ngân hàng khác (kế hoạch)</a:t>
            </a:r>
          </a:p>
          <a:p>
            <a:pPr algn="ctr"/>
            <a:r>
              <a:rPr sz="1100" b="0" i="0">
                <a:solidFill>
                  <a:srgbClr val="FFFFFF"/>
                </a:solidFill>
                <a:latin typeface="Segoe UI"/>
              </a:rPr>
              <a:t/>
            </a:r>
          </a:p>
          <a:p>
            <a:pPr algn="ctr"/>
            <a:r>
              <a:rPr sz="1100" b="0" i="0">
                <a:solidFill>
                  <a:srgbClr val="FFFFFF"/>
                </a:solidFill>
                <a:latin typeface="Segoe UI"/>
              </a:rPr>
              <a:t>Rà soát KYC, chuẩn bị kiểm toán nội bộ, xử lý khiếu nại — cùng mẫu hình: digital twin + chuyên gia giới hạn + gate con người</a:t>
            </a:r>
          </a:p>
        </p:txBody>
      </p:sp>
      <p:sp>
        <p:nvSpPr>
          <p:cNvPr id="6" name="bullets"/>
          <p:cNvSpPr txBox="1"/>
          <p:nvPr/>
        </p:nvSpPr>
        <p:spPr>
          <a:xfrm>
            <a:off x="457200" y="4389120"/>
            <a:ext cx="11247120" cy="1097280"/>
          </a:xfrm>
          <a:prstGeom prst="rect">
            <a:avLst/>
          </a:prstGeom>
          <a:noFill/>
        </p:spPr>
        <p:txBody>
          <a:bodyPr wrap="square">
            <a:spAutoFit/>
          </a:bodyPr>
          <a:lstStyle/>
          <a:p>
            <a:pPr algn="l">
              <a:lnSpc>
                <a:spcPct val="112000"/>
              </a:lnSpc>
              <a:spcAft>
                <a:spcPts val="500"/>
              </a:spcAft>
            </a:pPr>
            <a:r>
              <a:rPr sz="1100" b="0" i="0">
                <a:solidFill>
                  <a:srgbClr val="445063"/>
                </a:solidFill>
                <a:latin typeface="Segoe UI"/>
              </a:rPr>
              <a:t>•  Không gì trong bộ máy bị đóng cứng vào vốn lưu động: mở rộng = thêm schema tài liệu, kho chính sách, chỉ dẫn vai trò, công cụ — không phải kiến trúc mới</a:t>
            </a:r>
          </a:p>
          <a:p>
            <a:pPr algn="l">
              <a:lnSpc>
                <a:spcPct val="112000"/>
              </a:lnSpc>
              <a:spcAft>
                <a:spcPts val="500"/>
              </a:spcAft>
            </a:pPr>
            <a:r>
              <a:rPr sz="1100" b="0" i="0">
                <a:solidFill>
                  <a:srgbClr val="445063"/>
                </a:solidFill>
                <a:latin typeface="Segoe UI"/>
              </a:rPr>
              <a:t>•  Cổng mô hình trung lập: nâng cấp mô hình không phải xây lại ứng dụng</a:t>
            </a:r>
          </a:p>
        </p:txBody>
      </p:sp>
      <p:sp>
        <p:nvSpPr>
          <p:cNvPr id="7"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14/18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Hồ sơ tốt hơn → quyết định nhanh hơn → vốn đến doanh nghiệp sớm hơn.</a:t>
            </a:r>
          </a:p>
        </p:txBody>
      </p:sp>
      <p:sp>
        <p:nvSpPr>
          <p:cNvPr id="3" name="bullets"/>
          <p:cNvSpPr txBox="1"/>
          <p:nvPr/>
        </p:nvSpPr>
        <p:spPr>
          <a:xfrm>
            <a:off x="640080" y="1371600"/>
            <a:ext cx="10881360" cy="4023360"/>
          </a:xfrm>
          <a:prstGeom prst="rect">
            <a:avLst/>
          </a:prstGeom>
          <a:noFill/>
        </p:spPr>
        <p:txBody>
          <a:bodyPr wrap="square">
            <a:spAutoFit/>
          </a:bodyPr>
          <a:lstStyle/>
          <a:p>
            <a:pPr algn="l">
              <a:lnSpc>
                <a:spcPct val="112000"/>
              </a:lnSpc>
              <a:spcAft>
                <a:spcPts val="500"/>
              </a:spcAft>
            </a:pPr>
            <a:r>
              <a:rPr sz="1400" b="0" i="0">
                <a:solidFill>
                  <a:srgbClr val="445063"/>
                </a:solidFill>
                <a:latin typeface="Segoe UI"/>
              </a:rPr>
              <a:t>•  Thời gian ra quyết định SME: từ nhiều tuần hướng tới vài ngày</a:t>
            </a:r>
          </a:p>
          <a:p>
            <a:pPr algn="l">
              <a:lnSpc>
                <a:spcPct val="112000"/>
              </a:lnSpc>
              <a:spcAft>
                <a:spcPts val="500"/>
              </a:spcAft>
            </a:pPr>
            <a:r>
              <a:rPr sz="1400" b="0" i="0">
                <a:solidFill>
                  <a:srgbClr val="445063"/>
                </a:solidFill>
                <a:latin typeface="Segoe UI"/>
              </a:rPr>
              <a:t>•  Ít vòng bổ sung tài liệu — thiếu sót bắt ngay từ tiếp nhận, một yêu cầu gộp duy nhất</a:t>
            </a:r>
          </a:p>
          <a:p>
            <a:pPr algn="l">
              <a:lnSpc>
                <a:spcPct val="112000"/>
              </a:lnSpc>
              <a:spcAft>
                <a:spcPts val="500"/>
              </a:spcAft>
            </a:pPr>
            <a:r>
              <a:rPr sz="1400" b="0" i="0">
                <a:solidFill>
                  <a:srgbClr val="445063"/>
                </a:solidFill>
                <a:latin typeface="Segoe UI"/>
              </a:rPr>
              <a:t>•  Chính sách áp dụng nhất quán giữa các chi nhánh</a:t>
            </a:r>
          </a:p>
          <a:p>
            <a:pPr algn="l">
              <a:lnSpc>
                <a:spcPct val="112000"/>
              </a:lnSpc>
              <a:spcAft>
                <a:spcPts val="500"/>
              </a:spcAft>
            </a:pPr>
            <a:r>
              <a:rPr sz="1400" b="0" i="0">
                <a:solidFill>
                  <a:srgbClr val="445063"/>
                </a:solidFill>
                <a:latin typeface="Segoe UI"/>
              </a:rPr>
              <a:t>•  Giảm phụ thuộc chuyên gia thâm niên khan hiếm</a:t>
            </a:r>
          </a:p>
          <a:p>
            <a:pPr algn="l">
              <a:lnSpc>
                <a:spcPct val="112000"/>
              </a:lnSpc>
              <a:spcAft>
                <a:spcPts val="500"/>
              </a:spcAft>
            </a:pPr>
            <a:r>
              <a:rPr sz="1400" b="0" i="0">
                <a:solidFill>
                  <a:srgbClr val="445063"/>
                </a:solidFill>
                <a:latin typeface="Segoe UI"/>
              </a:rPr>
              <a:t>•  Dấu vết kiểm toán sinh ra trong lúc làm việc — không phải dựng lại sau</a:t>
            </a:r>
          </a:p>
          <a:p>
            <a:pPr algn="l">
              <a:lnSpc>
                <a:spcPct val="112000"/>
              </a:lnSpc>
              <a:spcAft>
                <a:spcPts val="500"/>
              </a:spcAft>
            </a:pPr>
            <a:r>
              <a:rPr sz="1400" b="0" i="0">
                <a:solidFill>
                  <a:srgbClr val="445063"/>
                </a:solidFill>
                <a:latin typeface="Segoe UI"/>
              </a:rPr>
              <a:t>•  Chỉ tiêu (điền số đo thực): giảm [X%] thời gian chuẩn bị hồ sơ · giảm [X] vòng bổ sung · tăng [X%] công suất mỗi cán bộ</a:t>
            </a:r>
          </a:p>
        </p:txBody>
      </p:sp>
      <p:sp>
        <p:nvSpPr>
          <p:cNvPr id="4"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Tín dụng SME là ưu tiên tăng trưởng — nút thắt là năng lực chuẩn bị hồ sơ, và hệ thống này chính là năng lực đó.</a:t>
            </a:r>
          </a:p>
        </p:txBody>
      </p:sp>
      <p:sp>
        <p:nvSpPr>
          <p:cNvPr id="5"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15/18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Từ nguyên mẫu hackathon đến trợ thủ tín dụng triển khai được</a:t>
            </a:r>
          </a:p>
        </p:txBody>
      </p:sp>
      <p:sp>
        <p:nvSpPr>
          <p:cNvPr id="3" name="milestone"/>
          <p:cNvSpPr/>
          <p:nvPr/>
        </p:nvSpPr>
        <p:spPr>
          <a:xfrm>
            <a:off x="365760" y="2011680"/>
            <a:ext cx="2240280" cy="2377440"/>
          </a:xfrm>
          <a:prstGeom prst="roundRect">
            <a:avLst>
              <a:gd name="adj" fmla="val 10000"/>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Hackathon</a:t>
            </a:r>
          </a:p>
          <a:p>
            <a:pPr algn="ctr"/>
            <a:r>
              <a:rPr sz="1100" b="1" i="0">
                <a:solidFill>
                  <a:srgbClr val="0B2D5B"/>
                </a:solidFill>
                <a:latin typeface="Segoe UI"/>
              </a:rPr>
              <a:t/>
            </a:r>
          </a:p>
          <a:p>
            <a:pPr algn="ctr"/>
            <a:r>
              <a:rPr sz="1100" b="1" i="0">
                <a:solidFill>
                  <a:srgbClr val="0B2D5B"/>
                </a:solidFill>
                <a:latin typeface="Segoe UI"/>
              </a:rPr>
              <a:t>Demo hoạt động: intake + agent phối hợp + dashboard, dữ liệu tổng hợp, trên đúng kiến trúc đích</a:t>
            </a:r>
          </a:p>
        </p:txBody>
      </p:sp>
      <p:sp>
        <p:nvSpPr>
          <p:cNvPr id="4" name="milestone"/>
          <p:cNvSpPr/>
          <p:nvPr/>
        </p:nvSpPr>
        <p:spPr>
          <a:xfrm>
            <a:off x="2743200" y="2011680"/>
            <a:ext cx="2240280" cy="23774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+1 tháng</a:t>
            </a:r>
          </a:p>
          <a:p>
            <a:pPr algn="ctr"/>
            <a:r>
              <a:rPr sz="1100" b="0" i="0">
                <a:solidFill>
                  <a:srgbClr val="FFFFFF"/>
                </a:solidFill>
                <a:latin typeface="Segoe UI"/>
              </a:rPr>
              <a:t/>
            </a:r>
          </a:p>
          <a:p>
            <a:pPr algn="ctr"/>
            <a:r>
              <a:rPr sz="1100" b="0" i="0">
                <a:solidFill>
                  <a:srgbClr val="FFFFFF"/>
                </a:solidFill>
                <a:latin typeface="Segoe UI"/>
              </a:rPr>
              <a:t>Benchmark tiếng Việt, chốt endpoint mô hình; phủ đủ 6 vai trò</a:t>
            </a:r>
          </a:p>
        </p:txBody>
      </p:sp>
      <p:sp>
        <p:nvSpPr>
          <p:cNvPr id="5" name="milestone"/>
          <p:cNvSpPr/>
          <p:nvPr/>
        </p:nvSpPr>
        <p:spPr>
          <a:xfrm>
            <a:off x="5120640" y="2011680"/>
            <a:ext cx="2240280" cy="23774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+3 tháng</a:t>
            </a:r>
          </a:p>
          <a:p>
            <a:pPr algn="ctr"/>
            <a:r>
              <a:rPr sz="1100" b="0" i="0">
                <a:solidFill>
                  <a:srgbClr val="FFFFFF"/>
                </a:solidFill>
                <a:latin typeface="Segoe UI"/>
              </a:rPr>
              <a:t/>
            </a:r>
          </a:p>
          <a:p>
            <a:pPr algn="ctr"/>
            <a:r>
              <a:rPr sz="1100" b="0" i="0">
                <a:solidFill>
                  <a:srgbClr val="FFFFFF"/>
                </a:solidFill>
                <a:latin typeface="Segoe UI"/>
              </a:rPr>
              <a:t>Pilot shadow-mode với một đội tín dụng SHB (cần phê duyệt dữ liệu &amp; quản trị)</a:t>
            </a:r>
          </a:p>
        </p:txBody>
      </p:sp>
      <p:sp>
        <p:nvSpPr>
          <p:cNvPr id="6" name="milestone"/>
          <p:cNvSpPr/>
          <p:nvPr/>
        </p:nvSpPr>
        <p:spPr>
          <a:xfrm>
            <a:off x="7498080" y="2011680"/>
            <a:ext cx="2240280" cy="23774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+6 tháng</a:t>
            </a:r>
          </a:p>
          <a:p>
            <a:pPr algn="ctr"/>
            <a:r>
              <a:rPr sz="1100" b="0" i="0">
                <a:solidFill>
                  <a:srgbClr val="FFFFFF"/>
                </a:solidFill>
                <a:latin typeface="Segoe UI"/>
              </a:rPr>
              <a:t/>
            </a:r>
          </a:p>
          <a:p>
            <a:pPr algn="ctr"/>
            <a:r>
              <a:rPr sz="1100" b="0" i="0">
                <a:solidFill>
                  <a:srgbClr val="FFFFFF"/>
                </a:solidFill>
                <a:latin typeface="Segoe UI"/>
              </a:rPr>
              <a:t>Biên tích hợp LOS/ACAS có kiểm soát; mở rộng chuẩn bị sau phê duyệt</a:t>
            </a:r>
          </a:p>
        </p:txBody>
      </p:sp>
      <p:sp>
        <p:nvSpPr>
          <p:cNvPr id="7" name="milestone"/>
          <p:cNvSpPr/>
          <p:nvPr/>
        </p:nvSpPr>
        <p:spPr>
          <a:xfrm>
            <a:off x="9875520" y="2011680"/>
            <a:ext cx="2240280" cy="2377440"/>
          </a:xfrm>
          <a:prstGeom prst="roundRect">
            <a:avLst>
              <a:gd name="adj" fmla="val 10000"/>
            </a:avLst>
          </a:prstGeom>
          <a:solidFill>
            <a:srgbClr val="0B2D5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FFFFFF"/>
                </a:solidFill>
                <a:latin typeface="Segoe UI"/>
              </a:rPr>
              <a:t>Tương lai</a:t>
            </a:r>
          </a:p>
          <a:p>
            <a:pPr algn="ctr"/>
            <a:r>
              <a:rPr sz="1100" b="0" i="0">
                <a:solidFill>
                  <a:srgbClr val="FFFFFF"/>
                </a:solidFill>
                <a:latin typeface="Segoe UI"/>
              </a:rPr>
              <a:t/>
            </a:r>
          </a:p>
          <a:p>
            <a:pPr algn="ctr"/>
            <a:r>
              <a:rPr sz="1100" b="0" i="0">
                <a:solidFill>
                  <a:srgbClr val="FFFFFF"/>
                </a:solidFill>
                <a:latin typeface="Segoe UI"/>
              </a:rPr>
              <a:t>Agent giám sát, tiếp nhận đa kênh, tài liệu đa phương thức</a:t>
            </a:r>
          </a:p>
        </p:txBody>
      </p:sp>
      <p:sp>
        <p:nvSpPr>
          <p:cNvPr id="8" name="TextBox 7"/>
          <p:cNvSpPr txBox="1"/>
          <p:nvPr/>
        </p:nvSpPr>
        <p:spPr>
          <a:xfrm>
            <a:off x="365760" y="4846320"/>
            <a:ext cx="11430000" cy="548640"/>
          </a:xfrm>
          <a:prstGeom prst="rect">
            <a:avLst/>
          </a:prstGeom>
          <a:noFill/>
        </p:spPr>
        <p:txBody>
          <a:bodyPr wrap="square">
            <a:spAutoFit/>
          </a:bodyPr>
          <a:lstStyle/>
          <a:p>
            <a:pPr algn="l"/>
            <a:r>
              <a:rPr sz="1100" b="0" i="0">
                <a:solidFill>
                  <a:srgbClr val="8A8A8A"/>
                </a:solidFill>
                <a:latin typeface="Segoe UI"/>
              </a:rPr>
              <a:t>Các giai đoạn sau hackathon thực hiện theo quản trị, chấp thuận an ninh và cư trú dữ liệu của SHB.</a:t>
            </a:r>
          </a:p>
        </p:txBody>
      </p:sp>
      <p:sp>
        <p:nvSpPr>
          <p:cNvPr id="9"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16/18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0B2D5B"/>
                </a:solidFill>
                <a:latin typeface="Segoe UI"/>
              </a:rPr>
              <a:t>Đội ngũ xây AI đáng tin cho ngân hàng</a:t>
            </a:r>
          </a:p>
        </p:txBody>
      </p:sp>
      <p:sp>
        <p:nvSpPr>
          <p:cNvPr id="3" name="member_card"/>
          <p:cNvSpPr/>
          <p:nvPr/>
        </p:nvSpPr>
        <p:spPr>
          <a:xfrm>
            <a:off x="365760" y="1463040"/>
            <a:ext cx="2240280" cy="310896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[Họ tên]</a:t>
            </a:r>
          </a:p>
          <a:p>
            <a:pPr algn="ctr"/>
            <a:r>
              <a:rPr sz="1100" b="0" i="0">
                <a:solidFill>
                  <a:srgbClr val="0B2D5B"/>
                </a:solidFill>
                <a:latin typeface="Segoe UI"/>
              </a:rPr>
              <a:t>Kỹ sư AI / LLM</a:t>
            </a:r>
          </a:p>
          <a:p>
            <a:pPr algn="ctr"/>
            <a:r>
              <a:rPr sz="1100" b="0" i="0">
                <a:solidFill>
                  <a:srgbClr val="0B2D5B"/>
                </a:solidFill>
                <a:latin typeface="Segoe UI"/>
              </a:rPr>
              <a:t/>
            </a:r>
          </a:p>
          <a:p>
            <a:pPr algn="ctr"/>
            <a:r>
              <a:rPr sz="1100" b="0" i="0">
                <a:solidFill>
                  <a:srgbClr val="0B2D5B"/>
                </a:solidFill>
                <a:latin typeface="Segoe UI"/>
              </a:rPr>
              <a:t>[Đóng góp trong demo]</a:t>
            </a:r>
          </a:p>
          <a:p>
            <a:pPr algn="ctr"/>
            <a:r>
              <a:rPr sz="1100" b="0" i="0">
                <a:solidFill>
                  <a:srgbClr val="0B2D5B"/>
                </a:solidFill>
                <a:latin typeface="Segoe UI"/>
              </a:rPr>
              <a:t>[Thế mạnh]</a:t>
            </a:r>
          </a:p>
        </p:txBody>
      </p:sp>
      <p:sp>
        <p:nvSpPr>
          <p:cNvPr id="4" name="member_card"/>
          <p:cNvSpPr/>
          <p:nvPr/>
        </p:nvSpPr>
        <p:spPr>
          <a:xfrm>
            <a:off x="2743200" y="1463040"/>
            <a:ext cx="2240280" cy="310896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[Họ tên]</a:t>
            </a:r>
          </a:p>
          <a:p>
            <a:pPr algn="ctr"/>
            <a:r>
              <a:rPr sz="1100" b="0" i="0">
                <a:solidFill>
                  <a:srgbClr val="0B2D5B"/>
                </a:solidFill>
                <a:latin typeface="Segoe UI"/>
              </a:rPr>
              <a:t>Kỹ sư backend / dữ liệu</a:t>
            </a:r>
          </a:p>
          <a:p>
            <a:pPr algn="ctr"/>
            <a:r>
              <a:rPr sz="1100" b="0" i="0">
                <a:solidFill>
                  <a:srgbClr val="0B2D5B"/>
                </a:solidFill>
                <a:latin typeface="Segoe UI"/>
              </a:rPr>
              <a:t/>
            </a:r>
          </a:p>
          <a:p>
            <a:pPr algn="ctr"/>
            <a:r>
              <a:rPr sz="1100" b="0" i="0">
                <a:solidFill>
                  <a:srgbClr val="0B2D5B"/>
                </a:solidFill>
                <a:latin typeface="Segoe UI"/>
              </a:rPr>
              <a:t>[Đóng góp trong demo]</a:t>
            </a:r>
          </a:p>
          <a:p>
            <a:pPr algn="ctr"/>
            <a:r>
              <a:rPr sz="1100" b="0" i="0">
                <a:solidFill>
                  <a:srgbClr val="0B2D5B"/>
                </a:solidFill>
                <a:latin typeface="Segoe UI"/>
              </a:rPr>
              <a:t>[Thế mạnh]</a:t>
            </a:r>
          </a:p>
        </p:txBody>
      </p:sp>
      <p:sp>
        <p:nvSpPr>
          <p:cNvPr id="5" name="member_card"/>
          <p:cNvSpPr/>
          <p:nvPr/>
        </p:nvSpPr>
        <p:spPr>
          <a:xfrm>
            <a:off x="5120640" y="1463040"/>
            <a:ext cx="2240280" cy="310896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[Họ tên]</a:t>
            </a:r>
          </a:p>
          <a:p>
            <a:pPr algn="ctr"/>
            <a:r>
              <a:rPr sz="1100" b="0" i="0">
                <a:solidFill>
                  <a:srgbClr val="0B2D5B"/>
                </a:solidFill>
                <a:latin typeface="Segoe UI"/>
              </a:rPr>
              <a:t>Sản phẩm &amp; thiết kế</a:t>
            </a:r>
          </a:p>
          <a:p>
            <a:pPr algn="ctr"/>
            <a:r>
              <a:rPr sz="1100" b="0" i="0">
                <a:solidFill>
                  <a:srgbClr val="0B2D5B"/>
                </a:solidFill>
                <a:latin typeface="Segoe UI"/>
              </a:rPr>
              <a:t/>
            </a:r>
          </a:p>
          <a:p>
            <a:pPr algn="ctr"/>
            <a:r>
              <a:rPr sz="1100" b="0" i="0">
                <a:solidFill>
                  <a:srgbClr val="0B2D5B"/>
                </a:solidFill>
                <a:latin typeface="Segoe UI"/>
              </a:rPr>
              <a:t>[Đóng góp trong demo]</a:t>
            </a:r>
          </a:p>
          <a:p>
            <a:pPr algn="ctr"/>
            <a:r>
              <a:rPr sz="1100" b="0" i="0">
                <a:solidFill>
                  <a:srgbClr val="0B2D5B"/>
                </a:solidFill>
                <a:latin typeface="Segoe UI"/>
              </a:rPr>
              <a:t>[Thế mạnh]</a:t>
            </a:r>
          </a:p>
        </p:txBody>
      </p:sp>
      <p:sp>
        <p:nvSpPr>
          <p:cNvPr id="6" name="member_card"/>
          <p:cNvSpPr/>
          <p:nvPr/>
        </p:nvSpPr>
        <p:spPr>
          <a:xfrm>
            <a:off x="7498080" y="1463040"/>
            <a:ext cx="2240280" cy="310896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[Họ tên]</a:t>
            </a:r>
          </a:p>
          <a:p>
            <a:pPr algn="ctr"/>
            <a:r>
              <a:rPr sz="1100" b="0" i="0">
                <a:solidFill>
                  <a:srgbClr val="0B2D5B"/>
                </a:solidFill>
                <a:latin typeface="Segoe UI"/>
              </a:rPr>
              <a:t>Chuyên môn nghiệp vụ ngân hàng</a:t>
            </a:r>
          </a:p>
          <a:p>
            <a:pPr algn="ctr"/>
            <a:r>
              <a:rPr sz="1100" b="0" i="0">
                <a:solidFill>
                  <a:srgbClr val="0B2D5B"/>
                </a:solidFill>
                <a:latin typeface="Segoe UI"/>
              </a:rPr>
              <a:t/>
            </a:r>
          </a:p>
          <a:p>
            <a:pPr algn="ctr"/>
            <a:r>
              <a:rPr sz="1100" b="0" i="0">
                <a:solidFill>
                  <a:srgbClr val="0B2D5B"/>
                </a:solidFill>
                <a:latin typeface="Segoe UI"/>
              </a:rPr>
              <a:t>[Đóng góp trong demo]</a:t>
            </a:r>
          </a:p>
          <a:p>
            <a:pPr algn="ctr"/>
            <a:r>
              <a:rPr sz="1100" b="0" i="0">
                <a:solidFill>
                  <a:srgbClr val="0B2D5B"/>
                </a:solidFill>
                <a:latin typeface="Segoe UI"/>
              </a:rPr>
              <a:t>[Thế mạnh]</a:t>
            </a:r>
          </a:p>
        </p:txBody>
      </p:sp>
      <p:sp>
        <p:nvSpPr>
          <p:cNvPr id="7" name="member_card"/>
          <p:cNvSpPr/>
          <p:nvPr/>
        </p:nvSpPr>
        <p:spPr>
          <a:xfrm>
            <a:off x="9875520" y="1463040"/>
            <a:ext cx="2240280" cy="310896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0B2D5B"/>
                </a:solidFill>
                <a:latin typeface="Segoe UI"/>
              </a:rPr>
              <a:t>[Họ tên]</a:t>
            </a:r>
          </a:p>
          <a:p>
            <a:pPr algn="ctr"/>
            <a:r>
              <a:rPr sz="1100" b="0" i="0">
                <a:solidFill>
                  <a:srgbClr val="0B2D5B"/>
                </a:solidFill>
                <a:latin typeface="Segoe UI"/>
              </a:rPr>
              <a:t>Trưởng nhóm đánh giá / kiểm chứng</a:t>
            </a:r>
          </a:p>
          <a:p>
            <a:pPr algn="ctr"/>
            <a:r>
              <a:rPr sz="1100" b="0" i="0">
                <a:solidFill>
                  <a:srgbClr val="0B2D5B"/>
                </a:solidFill>
                <a:latin typeface="Segoe UI"/>
              </a:rPr>
              <a:t/>
            </a:r>
          </a:p>
          <a:p>
            <a:pPr algn="ctr"/>
            <a:r>
              <a:rPr sz="1100" b="0" i="0">
                <a:solidFill>
                  <a:srgbClr val="0B2D5B"/>
                </a:solidFill>
                <a:latin typeface="Segoe UI"/>
              </a:rPr>
              <a:t>[Đóng góp trong demo]</a:t>
            </a:r>
          </a:p>
          <a:p>
            <a:pPr algn="ctr"/>
            <a:r>
              <a:rPr sz="1100" b="0" i="0">
                <a:solidFill>
                  <a:srgbClr val="0B2D5B"/>
                </a:solidFill>
                <a:latin typeface="Segoe UI"/>
              </a:rPr>
              <a:t>[Thế mạnh]</a:t>
            </a:r>
          </a:p>
        </p:txBody>
      </p:sp>
      <p:sp>
        <p:nvSpPr>
          <p:cNvPr id="8" name="killer"/>
          <p:cNvSpPr/>
          <p:nvPr/>
        </p:nvSpPr>
        <p:spPr>
          <a:xfrm>
            <a:off x="457200" y="5596128"/>
            <a:ext cx="11247120" cy="713232"/>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1">
                <a:solidFill>
                  <a:srgbClr val="0B2D5B"/>
                </a:solidFill>
                <a:latin typeface="Segoe UI"/>
              </a:rPr>
              <a:t>Chúng tôi kết hợp kỹ thuật AI, tư duy sản phẩm và hiểu biết nghiệp vụ tín dụng.</a:t>
            </a:r>
          </a:p>
        </p:txBody>
      </p:sp>
      <p:sp>
        <p:nvSpPr>
          <p:cNvPr id="9" name="footer"/>
          <p:cNvSpPr txBox="1"/>
          <p:nvPr/>
        </p:nvSpPr>
        <p:spPr>
          <a:xfrm>
            <a:off x="457200" y="6355080"/>
            <a:ext cx="11247120" cy="457200"/>
          </a:xfrm>
          <a:prstGeom prst="rect">
            <a:avLst/>
          </a:prstGeom>
          <a:noFill/>
        </p:spPr>
        <p:txBody>
          <a:bodyPr wrap="square">
            <a:spAutoFit/>
          </a:bodyPr>
          <a:lstStyle/>
          <a:p>
            <a:pPr algn="l"/>
            <a:r>
              <a:rPr sz="700" b="0" i="0">
                <a:solidFill>
                  <a:srgbClr val="8A8A8A"/>
                </a:solidFill>
                <a:latin typeface="Segoe UI"/>
              </a:rPr>
              <a:t>SHB CreditOps EvidenceGraph  ·  17/18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title"/>
          <p:cNvSpPr txBox="1"/>
          <p:nvPr/>
        </p:nvSpPr>
        <p:spPr>
          <a:xfrm>
            <a:off x="457200" y="228600"/>
            <a:ext cx="11247120" cy="1051560"/>
          </a:xfrm>
          <a:prstGeom prst="rect">
            <a:avLst/>
          </a:prstGeom>
          <a:noFill/>
        </p:spPr>
        <p:txBody>
          <a:bodyPr wrap="square">
            <a:spAutoFit/>
          </a:bodyPr>
          <a:lstStyle/>
          <a:p>
            <a:pPr algn="l"/>
            <a:r>
              <a:rPr sz="2800" b="1" i="0">
                <a:solidFill>
                  <a:srgbClr val="FFFFFF"/>
                </a:solidFill>
                <a:latin typeface="Segoe UI"/>
              </a:rPr>
              <a:t>Biến chồng tài liệu rời rạc thành quyết định tín dụng có bằng chứng.</a:t>
            </a:r>
          </a:p>
        </p:txBody>
      </p:sp>
      <p:sp>
        <p:nvSpPr>
          <p:cNvPr id="3" name="cta_box"/>
          <p:cNvSpPr/>
          <p:nvPr/>
        </p:nvSpPr>
        <p:spPr>
          <a:xfrm>
            <a:off x="548640" y="1645920"/>
            <a:ext cx="6949440" cy="86868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Quét QR — demo trực tiếp hồ sơ Minh An</a:t>
            </a:r>
          </a:p>
        </p:txBody>
      </p:sp>
      <p:sp>
        <p:nvSpPr>
          <p:cNvPr id="4" name="cta_box"/>
          <p:cNvSpPr/>
          <p:nvPr/>
        </p:nvSpPr>
        <p:spPr>
          <a:xfrm>
            <a:off x="548640" y="2651760"/>
            <a:ext cx="6949440" cy="86868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Đưa hệ thống một hồ sơ tổng hợp mới ngay tại chỗ</a:t>
            </a:r>
          </a:p>
        </p:txBody>
      </p:sp>
      <p:sp>
        <p:nvSpPr>
          <p:cNvPr id="5" name="cta_box"/>
          <p:cNvSpPr/>
          <p:nvPr/>
        </p:nvSpPr>
        <p:spPr>
          <a:xfrm>
            <a:off x="548640" y="3657600"/>
            <a:ext cx="6949440" cy="868680"/>
          </a:xfrm>
          <a:prstGeom prst="roundRect">
            <a:avLst>
              <a:gd name="adj" fmla="val 10000"/>
            </a:avLst>
          </a:prstGeom>
          <a:solidFill>
            <a:srgbClr val="EAF1F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B2D5B"/>
                </a:solidFill>
                <a:latin typeface="Segoe UI"/>
              </a:rPr>
              <a:t>Đồng hành pilot cùng một đội tín dụng SHB</a:t>
            </a:r>
          </a:p>
        </p:txBody>
      </p:sp>
      <p:sp>
        <p:nvSpPr>
          <p:cNvPr id="6" name="qr_placeholder"/>
          <p:cNvSpPr/>
          <p:nvPr/>
        </p:nvSpPr>
        <p:spPr>
          <a:xfrm>
            <a:off x="7955279" y="1645920"/>
            <a:ext cx="3657600" cy="2926080"/>
          </a:xfrm>
          <a:prstGeom prst="rect">
            <a:avLst/>
          </a:prstGeom>
          <a:solidFill>
            <a:srgbClr val="E9E9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8A8A8A"/>
                </a:solidFill>
                <a:latin typeface="Segoe UI"/>
              </a:rPr>
              <a:t>[QR DEMO — chèn liên kết khi demo sẵn sàng]</a:t>
            </a:r>
          </a:p>
        </p:txBody>
      </p:sp>
      <p:sp>
        <p:nvSpPr>
          <p:cNvPr id="7" name="killer"/>
          <p:cNvSpPr txBox="1"/>
          <p:nvPr/>
        </p:nvSpPr>
        <p:spPr>
          <a:xfrm>
            <a:off x="457200" y="5577840"/>
            <a:ext cx="11247120" cy="685800"/>
          </a:xfrm>
          <a:prstGeom prst="rect">
            <a:avLst/>
          </a:prstGeom>
          <a:noFill/>
        </p:spPr>
        <p:txBody>
          <a:bodyPr wrap="square">
            <a:spAutoFit/>
          </a:bodyPr>
          <a:lstStyle/>
          <a:p>
            <a:pPr algn="l"/>
            <a:r>
              <a:rPr sz="1700" b="1" i="1">
                <a:solidFill>
                  <a:srgbClr val="FFFFFF"/>
                </a:solidFill>
                <a:latin typeface="Segoe UI"/>
              </a:rPr>
              <a:t>Không phải thêm một chatbot — mà là một đội ngũ chuyên gia số có thể kiểm chứng, cho nghiệp vụ cốt lõi nhất của ngân hàng.</a:t>
            </a:r>
          </a:p>
        </p:txBody>
      </p:sp>
      <p:sp>
        <p:nvSpPr>
          <p:cNvPr id="8" name="footer"/>
          <p:cNvSpPr txBox="1"/>
          <p:nvPr/>
        </p:nvSpPr>
        <p:spPr>
          <a:xfrm>
            <a:off x="457200" y="6355080"/>
            <a:ext cx="11247120" cy="457200"/>
          </a:xfrm>
          <a:prstGeom prst="rect">
            <a:avLst/>
          </a:prstGeom>
          <a:noFill/>
        </p:spPr>
        <p:txBody>
          <a:bodyPr wrap="square">
            <a:spAutoFit/>
          </a:bodyPr>
          <a:lstStyle/>
          <a:p>
            <a:pPr algn="l"/>
            <a:r>
              <a:rPr sz="700" b="0" i="0">
                <a:solidFill>
                  <a:srgbClr val="CADCFC"/>
                </a:solidFill>
                <a:latin typeface="Segoe UI"/>
              </a:rPr>
              <a:t>SHB CreditOps EvidenceGraph  ·  18/18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